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20"/>
  </p:notesMasterIdLst>
  <p:sldIdLst>
    <p:sldId id="256" r:id="rId2"/>
    <p:sldId id="257" r:id="rId3"/>
    <p:sldId id="258" r:id="rId4"/>
    <p:sldId id="259" r:id="rId5"/>
    <p:sldId id="260" r:id="rId6"/>
    <p:sldId id="270" r:id="rId7"/>
    <p:sldId id="266" r:id="rId8"/>
    <p:sldId id="261" r:id="rId9"/>
    <p:sldId id="267" r:id="rId10"/>
    <p:sldId id="265" r:id="rId11"/>
    <p:sldId id="262" r:id="rId12"/>
    <p:sldId id="273" r:id="rId13"/>
    <p:sldId id="268" r:id="rId14"/>
    <p:sldId id="263" r:id="rId15"/>
    <p:sldId id="272" r:id="rId16"/>
    <p:sldId id="271" r:id="rId17"/>
    <p:sldId id="269" r:id="rId18"/>
    <p:sldId id="26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2" d="100"/>
          <a:sy n="72" d="100"/>
        </p:scale>
        <p:origin x="855" y="30"/>
      </p:cViewPr>
      <p:guideLst/>
    </p:cSldViewPr>
  </p:slideViewPr>
  <p:notesTextViewPr>
    <p:cViewPr>
      <p:scale>
        <a:sx n="1" d="1"/>
        <a:sy n="1" d="1"/>
      </p:scale>
      <p:origin x="0" y="-24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28A6BF-E69C-415F-80B3-90FB97D9F0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D6DA0FD-7FD7-40FB-BA53-336C7BB8D364}">
      <dgm:prSet/>
      <dgm:spPr/>
      <dgm:t>
        <a:bodyPr/>
        <a:lstStyle/>
        <a:p>
          <a:pPr>
            <a:lnSpc>
              <a:spcPct val="100000"/>
            </a:lnSpc>
          </a:pPr>
          <a:r>
            <a:rPr lang="en-US" b="1"/>
            <a:t>Business Problem Statement</a:t>
          </a:r>
          <a:endParaRPr lang="en-US"/>
        </a:p>
      </dgm:t>
    </dgm:pt>
    <dgm:pt modelId="{5AEE04B5-287D-4E6D-81AC-2A2F2E120505}" type="parTrans" cxnId="{9F93AEA8-DA33-4AE3-8A2A-D67E38580D6E}">
      <dgm:prSet/>
      <dgm:spPr/>
      <dgm:t>
        <a:bodyPr/>
        <a:lstStyle/>
        <a:p>
          <a:endParaRPr lang="en-US"/>
        </a:p>
      </dgm:t>
    </dgm:pt>
    <dgm:pt modelId="{670E77D1-292B-4EF3-9A62-954FA618F78C}" type="sibTrans" cxnId="{9F93AEA8-DA33-4AE3-8A2A-D67E38580D6E}">
      <dgm:prSet/>
      <dgm:spPr/>
      <dgm:t>
        <a:bodyPr/>
        <a:lstStyle/>
        <a:p>
          <a:endParaRPr lang="en-US"/>
        </a:p>
      </dgm:t>
    </dgm:pt>
    <dgm:pt modelId="{02998FA5-5B54-4214-911C-898883BC8669}">
      <dgm:prSet/>
      <dgm:spPr/>
      <dgm:t>
        <a:bodyPr/>
        <a:lstStyle/>
        <a:p>
          <a:pPr>
            <a:lnSpc>
              <a:spcPct val="100000"/>
            </a:lnSpc>
          </a:pPr>
          <a:r>
            <a:rPr lang="en-US" b="1"/>
            <a:t>Objective:</a:t>
          </a:r>
          <a:endParaRPr lang="en-US"/>
        </a:p>
      </dgm:t>
    </dgm:pt>
    <dgm:pt modelId="{3E0CAE21-1C60-4432-8C4F-5B9C1DAD805C}" type="parTrans" cxnId="{D16A1279-A777-4FF9-B741-69762E013D55}">
      <dgm:prSet/>
      <dgm:spPr/>
      <dgm:t>
        <a:bodyPr/>
        <a:lstStyle/>
        <a:p>
          <a:endParaRPr lang="en-US"/>
        </a:p>
      </dgm:t>
    </dgm:pt>
    <dgm:pt modelId="{1E00AFD3-A1A3-4927-8B4C-C8E8A189D518}" type="sibTrans" cxnId="{D16A1279-A777-4FF9-B741-69762E013D55}">
      <dgm:prSet/>
      <dgm:spPr/>
      <dgm:t>
        <a:bodyPr/>
        <a:lstStyle/>
        <a:p>
          <a:endParaRPr lang="en-US"/>
        </a:p>
      </dgm:t>
    </dgm:pt>
    <dgm:pt modelId="{697CEF68-327E-4820-A658-5C3F51A46ABB}">
      <dgm:prSet/>
      <dgm:spPr/>
      <dgm:t>
        <a:bodyPr/>
        <a:lstStyle/>
        <a:p>
          <a:pPr>
            <a:lnSpc>
              <a:spcPct val="100000"/>
            </a:lnSpc>
          </a:pPr>
          <a:r>
            <a:rPr lang="en-US"/>
            <a:t>Analyze NYC taxi data to understand daily demand, hotspot locations, and fare trends.</a:t>
          </a:r>
        </a:p>
      </dgm:t>
    </dgm:pt>
    <dgm:pt modelId="{9CF81E68-AE50-424D-AD74-2804F7045997}" type="parTrans" cxnId="{57DEB308-7EB7-41C6-B76F-DEF5F561A63E}">
      <dgm:prSet/>
      <dgm:spPr/>
      <dgm:t>
        <a:bodyPr/>
        <a:lstStyle/>
        <a:p>
          <a:endParaRPr lang="en-US"/>
        </a:p>
      </dgm:t>
    </dgm:pt>
    <dgm:pt modelId="{4E7F5D96-3794-403C-B668-EAFC14B23135}" type="sibTrans" cxnId="{57DEB308-7EB7-41C6-B76F-DEF5F561A63E}">
      <dgm:prSet/>
      <dgm:spPr/>
      <dgm:t>
        <a:bodyPr/>
        <a:lstStyle/>
        <a:p>
          <a:endParaRPr lang="en-US"/>
        </a:p>
      </dgm:t>
    </dgm:pt>
    <dgm:pt modelId="{84473D17-1426-41A7-9F5F-1C7E063E9E33}">
      <dgm:prSet/>
      <dgm:spPr/>
      <dgm:t>
        <a:bodyPr/>
        <a:lstStyle/>
        <a:p>
          <a:pPr>
            <a:lnSpc>
              <a:spcPct val="100000"/>
            </a:lnSpc>
          </a:pPr>
          <a:r>
            <a:rPr lang="en-US" b="1"/>
            <a:t>Why It Matters:</a:t>
          </a:r>
          <a:endParaRPr lang="en-US"/>
        </a:p>
      </dgm:t>
    </dgm:pt>
    <dgm:pt modelId="{65FF194C-F2BA-4E18-AE9C-3F7121C71781}" type="parTrans" cxnId="{D551742F-89C0-458F-9783-408F9782DFB8}">
      <dgm:prSet/>
      <dgm:spPr/>
      <dgm:t>
        <a:bodyPr/>
        <a:lstStyle/>
        <a:p>
          <a:endParaRPr lang="en-US"/>
        </a:p>
      </dgm:t>
    </dgm:pt>
    <dgm:pt modelId="{1546E8C2-4628-4EE8-83DF-DCD4A4316EB4}" type="sibTrans" cxnId="{D551742F-89C0-458F-9783-408F9782DFB8}">
      <dgm:prSet/>
      <dgm:spPr/>
      <dgm:t>
        <a:bodyPr/>
        <a:lstStyle/>
        <a:p>
          <a:endParaRPr lang="en-US"/>
        </a:p>
      </dgm:t>
    </dgm:pt>
    <dgm:pt modelId="{18E2055B-68F8-49C5-9AF5-524E5EDD2F8D}">
      <dgm:prSet/>
      <dgm:spPr/>
      <dgm:t>
        <a:bodyPr/>
        <a:lstStyle/>
        <a:p>
          <a:pPr>
            <a:lnSpc>
              <a:spcPct val="100000"/>
            </a:lnSpc>
          </a:pPr>
          <a:r>
            <a:rPr lang="en-US"/>
            <a:t>Helps improve resource allocation, optimize pricing strategies, and informs urban planning decisions.</a:t>
          </a:r>
        </a:p>
      </dgm:t>
    </dgm:pt>
    <dgm:pt modelId="{2133A0DF-87A9-4BAC-A3A6-EF1CA46FD917}" type="parTrans" cxnId="{B8214DC3-C832-4CCA-9226-AD6B8701752E}">
      <dgm:prSet/>
      <dgm:spPr/>
      <dgm:t>
        <a:bodyPr/>
        <a:lstStyle/>
        <a:p>
          <a:endParaRPr lang="en-US"/>
        </a:p>
      </dgm:t>
    </dgm:pt>
    <dgm:pt modelId="{73E80899-F719-4304-BBCE-2FA9A69E5879}" type="sibTrans" cxnId="{B8214DC3-C832-4CCA-9226-AD6B8701752E}">
      <dgm:prSet/>
      <dgm:spPr/>
      <dgm:t>
        <a:bodyPr/>
        <a:lstStyle/>
        <a:p>
          <a:endParaRPr lang="en-US"/>
        </a:p>
      </dgm:t>
    </dgm:pt>
    <dgm:pt modelId="{9C84E41D-0FD0-43AF-96AA-B0BFFA651A59}">
      <dgm:prSet/>
      <dgm:spPr/>
      <dgm:t>
        <a:bodyPr/>
        <a:lstStyle/>
        <a:p>
          <a:pPr>
            <a:lnSpc>
              <a:spcPct val="100000"/>
            </a:lnSpc>
          </a:pPr>
          <a:r>
            <a:rPr lang="en-US" b="1"/>
            <a:t>Key Questions:</a:t>
          </a:r>
          <a:endParaRPr lang="en-US"/>
        </a:p>
      </dgm:t>
    </dgm:pt>
    <dgm:pt modelId="{667F06AF-7ACA-4582-BCD9-E0E8AECFCEAC}" type="parTrans" cxnId="{BAB26FAB-4129-4DB6-A530-2962278AF181}">
      <dgm:prSet/>
      <dgm:spPr/>
      <dgm:t>
        <a:bodyPr/>
        <a:lstStyle/>
        <a:p>
          <a:endParaRPr lang="en-US"/>
        </a:p>
      </dgm:t>
    </dgm:pt>
    <dgm:pt modelId="{1B4EFBF6-5DF2-4622-A3EA-1F1107A94AF6}" type="sibTrans" cxnId="{BAB26FAB-4129-4DB6-A530-2962278AF181}">
      <dgm:prSet/>
      <dgm:spPr/>
      <dgm:t>
        <a:bodyPr/>
        <a:lstStyle/>
        <a:p>
          <a:endParaRPr lang="en-US"/>
        </a:p>
      </dgm:t>
    </dgm:pt>
    <dgm:pt modelId="{F0927919-3880-47BC-8C54-7999C0E794C2}">
      <dgm:prSet/>
      <dgm:spPr/>
      <dgm:t>
        <a:bodyPr/>
        <a:lstStyle/>
        <a:p>
          <a:pPr>
            <a:lnSpc>
              <a:spcPct val="100000"/>
            </a:lnSpc>
          </a:pPr>
          <a:r>
            <a:rPr lang="en-US"/>
            <a:t>How do daily trip volumes vary?</a:t>
          </a:r>
        </a:p>
      </dgm:t>
    </dgm:pt>
    <dgm:pt modelId="{4357B6A0-21BE-4FEF-9F1C-B2E6EFE7BA17}" type="parTrans" cxnId="{E34B92D8-1F1A-494D-A313-0AC0A3E9D823}">
      <dgm:prSet/>
      <dgm:spPr/>
      <dgm:t>
        <a:bodyPr/>
        <a:lstStyle/>
        <a:p>
          <a:endParaRPr lang="en-US"/>
        </a:p>
      </dgm:t>
    </dgm:pt>
    <dgm:pt modelId="{00FA81CB-5E57-421F-A291-5E7A22F2E586}" type="sibTrans" cxnId="{E34B92D8-1F1A-494D-A313-0AC0A3E9D823}">
      <dgm:prSet/>
      <dgm:spPr/>
      <dgm:t>
        <a:bodyPr/>
        <a:lstStyle/>
        <a:p>
          <a:endParaRPr lang="en-US"/>
        </a:p>
      </dgm:t>
    </dgm:pt>
    <dgm:pt modelId="{DC0060EA-76D2-4F9A-AE93-7A03861FF90D}">
      <dgm:prSet/>
      <dgm:spPr/>
      <dgm:t>
        <a:bodyPr/>
        <a:lstStyle/>
        <a:p>
          <a:pPr>
            <a:lnSpc>
              <a:spcPct val="100000"/>
            </a:lnSpc>
          </a:pPr>
          <a:r>
            <a:rPr lang="en-US"/>
            <a:t>Which pickup locations show the highest demand?</a:t>
          </a:r>
        </a:p>
      </dgm:t>
    </dgm:pt>
    <dgm:pt modelId="{DCA37F5C-7B5F-4AAE-B6A8-31173641AAE9}" type="parTrans" cxnId="{60E22A86-C470-45FD-B504-6EA97246A51E}">
      <dgm:prSet/>
      <dgm:spPr/>
      <dgm:t>
        <a:bodyPr/>
        <a:lstStyle/>
        <a:p>
          <a:endParaRPr lang="en-US"/>
        </a:p>
      </dgm:t>
    </dgm:pt>
    <dgm:pt modelId="{882D378A-BFEC-4C94-850A-83231672116D}" type="sibTrans" cxnId="{60E22A86-C470-45FD-B504-6EA97246A51E}">
      <dgm:prSet/>
      <dgm:spPr/>
      <dgm:t>
        <a:bodyPr/>
        <a:lstStyle/>
        <a:p>
          <a:endParaRPr lang="en-US"/>
        </a:p>
      </dgm:t>
    </dgm:pt>
    <dgm:pt modelId="{30C328CF-56BD-4B0E-A9F0-1A34AFF544DC}">
      <dgm:prSet/>
      <dgm:spPr/>
      <dgm:t>
        <a:bodyPr/>
        <a:lstStyle/>
        <a:p>
          <a:pPr>
            <a:lnSpc>
              <a:spcPct val="100000"/>
            </a:lnSpc>
          </a:pPr>
          <a:r>
            <a:rPr lang="en-US"/>
            <a:t>How do average fares change over time?</a:t>
          </a:r>
        </a:p>
      </dgm:t>
    </dgm:pt>
    <dgm:pt modelId="{3CB43896-73C7-488E-AF52-1632838FCB82}" type="parTrans" cxnId="{31668C98-5BBD-4482-892F-B1D1FDB01AC0}">
      <dgm:prSet/>
      <dgm:spPr/>
      <dgm:t>
        <a:bodyPr/>
        <a:lstStyle/>
        <a:p>
          <a:endParaRPr lang="en-US"/>
        </a:p>
      </dgm:t>
    </dgm:pt>
    <dgm:pt modelId="{DA03A020-B937-4CBB-9944-C19182D15B18}" type="sibTrans" cxnId="{31668C98-5BBD-4482-892F-B1D1FDB01AC0}">
      <dgm:prSet/>
      <dgm:spPr/>
      <dgm:t>
        <a:bodyPr/>
        <a:lstStyle/>
        <a:p>
          <a:endParaRPr lang="en-US"/>
        </a:p>
      </dgm:t>
    </dgm:pt>
    <dgm:pt modelId="{F651BCC8-482B-4247-BE1A-9A4708969949}" type="pres">
      <dgm:prSet presAssocID="{9E28A6BF-E69C-415F-80B3-90FB97D9F080}" presName="root" presStyleCnt="0">
        <dgm:presLayoutVars>
          <dgm:dir/>
          <dgm:resizeHandles val="exact"/>
        </dgm:presLayoutVars>
      </dgm:prSet>
      <dgm:spPr/>
    </dgm:pt>
    <dgm:pt modelId="{9F8211F4-C2D4-4417-BFC1-5F5B03CE16AD}" type="pres">
      <dgm:prSet presAssocID="{DD6DA0FD-7FD7-40FB-BA53-336C7BB8D364}" presName="compNode" presStyleCnt="0"/>
      <dgm:spPr/>
    </dgm:pt>
    <dgm:pt modelId="{B5FA5AEA-47C9-4D4C-967A-BBEF57C2DC66}" type="pres">
      <dgm:prSet presAssocID="{DD6DA0FD-7FD7-40FB-BA53-336C7BB8D364}" presName="bgRect" presStyleLbl="bgShp" presStyleIdx="0" presStyleCnt="4"/>
      <dgm:spPr/>
    </dgm:pt>
    <dgm:pt modelId="{955BC293-3FFC-469C-B993-B7E076E2B5F9}" type="pres">
      <dgm:prSet presAssocID="{DD6DA0FD-7FD7-40FB-BA53-336C7BB8D36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77350968-C5FB-4E31-8D28-823742D5BBC0}" type="pres">
      <dgm:prSet presAssocID="{DD6DA0FD-7FD7-40FB-BA53-336C7BB8D364}" presName="spaceRect" presStyleCnt="0"/>
      <dgm:spPr/>
    </dgm:pt>
    <dgm:pt modelId="{9FA216BE-A1CE-491E-94E0-E4A1E9ABD6C8}" type="pres">
      <dgm:prSet presAssocID="{DD6DA0FD-7FD7-40FB-BA53-336C7BB8D364}" presName="parTx" presStyleLbl="revTx" presStyleIdx="0" presStyleCnt="7">
        <dgm:presLayoutVars>
          <dgm:chMax val="0"/>
          <dgm:chPref val="0"/>
        </dgm:presLayoutVars>
      </dgm:prSet>
      <dgm:spPr/>
    </dgm:pt>
    <dgm:pt modelId="{4F4CEAEC-5DD7-4654-AA29-3F8D3C8D8EC5}" type="pres">
      <dgm:prSet presAssocID="{670E77D1-292B-4EF3-9A62-954FA618F78C}" presName="sibTrans" presStyleCnt="0"/>
      <dgm:spPr/>
    </dgm:pt>
    <dgm:pt modelId="{68A21A66-E686-4627-9BF7-9BF90FDF8579}" type="pres">
      <dgm:prSet presAssocID="{02998FA5-5B54-4214-911C-898883BC8669}" presName="compNode" presStyleCnt="0"/>
      <dgm:spPr/>
    </dgm:pt>
    <dgm:pt modelId="{10BDDA1D-9CA4-451E-822D-87D837E9754D}" type="pres">
      <dgm:prSet presAssocID="{02998FA5-5B54-4214-911C-898883BC8669}" presName="bgRect" presStyleLbl="bgShp" presStyleIdx="1" presStyleCnt="4"/>
      <dgm:spPr/>
    </dgm:pt>
    <dgm:pt modelId="{29A79FFD-02DB-4232-8D9A-F5F3BC053629}" type="pres">
      <dgm:prSet presAssocID="{02998FA5-5B54-4214-911C-898883BC866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xi"/>
        </a:ext>
      </dgm:extLst>
    </dgm:pt>
    <dgm:pt modelId="{E030A718-0106-4553-BA4D-788A0CEE937A}" type="pres">
      <dgm:prSet presAssocID="{02998FA5-5B54-4214-911C-898883BC8669}" presName="spaceRect" presStyleCnt="0"/>
      <dgm:spPr/>
    </dgm:pt>
    <dgm:pt modelId="{E2F092FE-36E4-41B3-ADFF-185F231EECC0}" type="pres">
      <dgm:prSet presAssocID="{02998FA5-5B54-4214-911C-898883BC8669}" presName="parTx" presStyleLbl="revTx" presStyleIdx="1" presStyleCnt="7">
        <dgm:presLayoutVars>
          <dgm:chMax val="0"/>
          <dgm:chPref val="0"/>
        </dgm:presLayoutVars>
      </dgm:prSet>
      <dgm:spPr/>
    </dgm:pt>
    <dgm:pt modelId="{9A7FAF0F-59BE-4E6A-B9FF-548399298988}" type="pres">
      <dgm:prSet presAssocID="{02998FA5-5B54-4214-911C-898883BC8669}" presName="desTx" presStyleLbl="revTx" presStyleIdx="2" presStyleCnt="7">
        <dgm:presLayoutVars/>
      </dgm:prSet>
      <dgm:spPr/>
    </dgm:pt>
    <dgm:pt modelId="{07A72B9B-8B16-4F22-AB9A-91BD09C1DF81}" type="pres">
      <dgm:prSet presAssocID="{1E00AFD3-A1A3-4927-8B4C-C8E8A189D518}" presName="sibTrans" presStyleCnt="0"/>
      <dgm:spPr/>
    </dgm:pt>
    <dgm:pt modelId="{06BBB0EC-3E73-4DD3-8021-C6AB88282C7F}" type="pres">
      <dgm:prSet presAssocID="{84473D17-1426-41A7-9F5F-1C7E063E9E33}" presName="compNode" presStyleCnt="0"/>
      <dgm:spPr/>
    </dgm:pt>
    <dgm:pt modelId="{B3EC8024-2D98-4D9D-8F63-FE1EA0302F5C}" type="pres">
      <dgm:prSet presAssocID="{84473D17-1426-41A7-9F5F-1C7E063E9E33}" presName="bgRect" presStyleLbl="bgShp" presStyleIdx="2" presStyleCnt="4"/>
      <dgm:spPr/>
    </dgm:pt>
    <dgm:pt modelId="{F893B662-BB4E-448A-AF22-A633D5FC9019}" type="pres">
      <dgm:prSet presAssocID="{84473D17-1426-41A7-9F5F-1C7E063E9E3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599EF460-FDDC-4BA2-B07D-7211C9AEA2AD}" type="pres">
      <dgm:prSet presAssocID="{84473D17-1426-41A7-9F5F-1C7E063E9E33}" presName="spaceRect" presStyleCnt="0"/>
      <dgm:spPr/>
    </dgm:pt>
    <dgm:pt modelId="{349F420B-7112-40DC-AE52-57B03E4647DD}" type="pres">
      <dgm:prSet presAssocID="{84473D17-1426-41A7-9F5F-1C7E063E9E33}" presName="parTx" presStyleLbl="revTx" presStyleIdx="3" presStyleCnt="7">
        <dgm:presLayoutVars>
          <dgm:chMax val="0"/>
          <dgm:chPref val="0"/>
        </dgm:presLayoutVars>
      </dgm:prSet>
      <dgm:spPr/>
    </dgm:pt>
    <dgm:pt modelId="{04539FE4-0BA6-4054-8E72-82E6C3974A15}" type="pres">
      <dgm:prSet presAssocID="{84473D17-1426-41A7-9F5F-1C7E063E9E33}" presName="desTx" presStyleLbl="revTx" presStyleIdx="4" presStyleCnt="7">
        <dgm:presLayoutVars/>
      </dgm:prSet>
      <dgm:spPr/>
    </dgm:pt>
    <dgm:pt modelId="{75E5DAAC-6EFD-4F1E-A5AF-8057A299837E}" type="pres">
      <dgm:prSet presAssocID="{1546E8C2-4628-4EE8-83DF-DCD4A4316EB4}" presName="sibTrans" presStyleCnt="0"/>
      <dgm:spPr/>
    </dgm:pt>
    <dgm:pt modelId="{D1F420A9-C9D4-4170-9CDA-E62D799C06BB}" type="pres">
      <dgm:prSet presAssocID="{9C84E41D-0FD0-43AF-96AA-B0BFFA651A59}" presName="compNode" presStyleCnt="0"/>
      <dgm:spPr/>
    </dgm:pt>
    <dgm:pt modelId="{E35D40D5-DF95-43BE-BC7F-C9E5BD9D88C6}" type="pres">
      <dgm:prSet presAssocID="{9C84E41D-0FD0-43AF-96AA-B0BFFA651A59}" presName="bgRect" presStyleLbl="bgShp" presStyleIdx="3" presStyleCnt="4"/>
      <dgm:spPr/>
    </dgm:pt>
    <dgm:pt modelId="{337FB29C-B287-40E6-80B4-A81F70276937}" type="pres">
      <dgm:prSet presAssocID="{9C84E41D-0FD0-43AF-96AA-B0BFFA651A5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ruise Ship"/>
        </a:ext>
      </dgm:extLst>
    </dgm:pt>
    <dgm:pt modelId="{62E75886-BD97-4B6E-83F0-5B1AD95C6FDF}" type="pres">
      <dgm:prSet presAssocID="{9C84E41D-0FD0-43AF-96AA-B0BFFA651A59}" presName="spaceRect" presStyleCnt="0"/>
      <dgm:spPr/>
    </dgm:pt>
    <dgm:pt modelId="{6879F8FA-E08F-4089-9435-A3FB98AE84F2}" type="pres">
      <dgm:prSet presAssocID="{9C84E41D-0FD0-43AF-96AA-B0BFFA651A59}" presName="parTx" presStyleLbl="revTx" presStyleIdx="5" presStyleCnt="7">
        <dgm:presLayoutVars>
          <dgm:chMax val="0"/>
          <dgm:chPref val="0"/>
        </dgm:presLayoutVars>
      </dgm:prSet>
      <dgm:spPr/>
    </dgm:pt>
    <dgm:pt modelId="{B6C5FAE0-B5F0-4101-A3C2-23003E49CD62}" type="pres">
      <dgm:prSet presAssocID="{9C84E41D-0FD0-43AF-96AA-B0BFFA651A59}" presName="desTx" presStyleLbl="revTx" presStyleIdx="6" presStyleCnt="7">
        <dgm:presLayoutVars/>
      </dgm:prSet>
      <dgm:spPr/>
    </dgm:pt>
  </dgm:ptLst>
  <dgm:cxnLst>
    <dgm:cxn modelId="{57DEB308-7EB7-41C6-B76F-DEF5F561A63E}" srcId="{02998FA5-5B54-4214-911C-898883BC8669}" destId="{697CEF68-327E-4820-A658-5C3F51A46ABB}" srcOrd="0" destOrd="0" parTransId="{9CF81E68-AE50-424D-AD74-2804F7045997}" sibTransId="{4E7F5D96-3794-403C-B668-EAFC14B23135}"/>
    <dgm:cxn modelId="{E409B609-2B88-49A8-86C3-DD89E6E8C852}" type="presOf" srcId="{DD6DA0FD-7FD7-40FB-BA53-336C7BB8D364}" destId="{9FA216BE-A1CE-491E-94E0-E4A1E9ABD6C8}" srcOrd="0" destOrd="0" presId="urn:microsoft.com/office/officeart/2018/2/layout/IconVerticalSolidList"/>
    <dgm:cxn modelId="{912EC21A-0CCC-4C7B-935E-03FA461BDBE1}" type="presOf" srcId="{9C84E41D-0FD0-43AF-96AA-B0BFFA651A59}" destId="{6879F8FA-E08F-4089-9435-A3FB98AE84F2}" srcOrd="0" destOrd="0" presId="urn:microsoft.com/office/officeart/2018/2/layout/IconVerticalSolidList"/>
    <dgm:cxn modelId="{D551742F-89C0-458F-9783-408F9782DFB8}" srcId="{9E28A6BF-E69C-415F-80B3-90FB97D9F080}" destId="{84473D17-1426-41A7-9F5F-1C7E063E9E33}" srcOrd="2" destOrd="0" parTransId="{65FF194C-F2BA-4E18-AE9C-3F7121C71781}" sibTransId="{1546E8C2-4628-4EE8-83DF-DCD4A4316EB4}"/>
    <dgm:cxn modelId="{428ECD6A-DA9A-4A4E-A509-D8FAC05C49F5}" type="presOf" srcId="{84473D17-1426-41A7-9F5F-1C7E063E9E33}" destId="{349F420B-7112-40DC-AE52-57B03E4647DD}" srcOrd="0" destOrd="0" presId="urn:microsoft.com/office/officeart/2018/2/layout/IconVerticalSolidList"/>
    <dgm:cxn modelId="{D44F4274-13A4-400D-ACF0-B9BEE37036B8}" type="presOf" srcId="{18E2055B-68F8-49C5-9AF5-524E5EDD2F8D}" destId="{04539FE4-0BA6-4054-8E72-82E6C3974A15}" srcOrd="0" destOrd="0" presId="urn:microsoft.com/office/officeart/2018/2/layout/IconVerticalSolidList"/>
    <dgm:cxn modelId="{D16A1279-A777-4FF9-B741-69762E013D55}" srcId="{9E28A6BF-E69C-415F-80B3-90FB97D9F080}" destId="{02998FA5-5B54-4214-911C-898883BC8669}" srcOrd="1" destOrd="0" parTransId="{3E0CAE21-1C60-4432-8C4F-5B9C1DAD805C}" sibTransId="{1E00AFD3-A1A3-4927-8B4C-C8E8A189D518}"/>
    <dgm:cxn modelId="{96A66080-F9C1-48F8-A957-0466AF53010B}" type="presOf" srcId="{697CEF68-327E-4820-A658-5C3F51A46ABB}" destId="{9A7FAF0F-59BE-4E6A-B9FF-548399298988}" srcOrd="0" destOrd="0" presId="urn:microsoft.com/office/officeart/2018/2/layout/IconVerticalSolidList"/>
    <dgm:cxn modelId="{8367FD82-4601-40FE-BCE4-129D1FC05032}" type="presOf" srcId="{30C328CF-56BD-4B0E-A9F0-1A34AFF544DC}" destId="{B6C5FAE0-B5F0-4101-A3C2-23003E49CD62}" srcOrd="0" destOrd="2" presId="urn:microsoft.com/office/officeart/2018/2/layout/IconVerticalSolidList"/>
    <dgm:cxn modelId="{60E22A86-C470-45FD-B504-6EA97246A51E}" srcId="{9C84E41D-0FD0-43AF-96AA-B0BFFA651A59}" destId="{DC0060EA-76D2-4F9A-AE93-7A03861FF90D}" srcOrd="1" destOrd="0" parTransId="{DCA37F5C-7B5F-4AAE-B6A8-31173641AAE9}" sibTransId="{882D378A-BFEC-4C94-850A-83231672116D}"/>
    <dgm:cxn modelId="{F7A17589-017E-4C42-88D7-376ED2F8934E}" type="presOf" srcId="{F0927919-3880-47BC-8C54-7999C0E794C2}" destId="{B6C5FAE0-B5F0-4101-A3C2-23003E49CD62}" srcOrd="0" destOrd="0" presId="urn:microsoft.com/office/officeart/2018/2/layout/IconVerticalSolidList"/>
    <dgm:cxn modelId="{31668C98-5BBD-4482-892F-B1D1FDB01AC0}" srcId="{9C84E41D-0FD0-43AF-96AA-B0BFFA651A59}" destId="{30C328CF-56BD-4B0E-A9F0-1A34AFF544DC}" srcOrd="2" destOrd="0" parTransId="{3CB43896-73C7-488E-AF52-1632838FCB82}" sibTransId="{DA03A020-B937-4CBB-9944-C19182D15B18}"/>
    <dgm:cxn modelId="{9F93AEA8-DA33-4AE3-8A2A-D67E38580D6E}" srcId="{9E28A6BF-E69C-415F-80B3-90FB97D9F080}" destId="{DD6DA0FD-7FD7-40FB-BA53-336C7BB8D364}" srcOrd="0" destOrd="0" parTransId="{5AEE04B5-287D-4E6D-81AC-2A2F2E120505}" sibTransId="{670E77D1-292B-4EF3-9A62-954FA618F78C}"/>
    <dgm:cxn modelId="{BAB26FAB-4129-4DB6-A530-2962278AF181}" srcId="{9E28A6BF-E69C-415F-80B3-90FB97D9F080}" destId="{9C84E41D-0FD0-43AF-96AA-B0BFFA651A59}" srcOrd="3" destOrd="0" parTransId="{667F06AF-7ACA-4582-BCD9-E0E8AECFCEAC}" sibTransId="{1B4EFBF6-5DF2-4622-A3EA-1F1107A94AF6}"/>
    <dgm:cxn modelId="{7729D5BB-D099-4CC2-8A48-99F6F8820480}" type="presOf" srcId="{9E28A6BF-E69C-415F-80B3-90FB97D9F080}" destId="{F651BCC8-482B-4247-BE1A-9A4708969949}" srcOrd="0" destOrd="0" presId="urn:microsoft.com/office/officeart/2018/2/layout/IconVerticalSolidList"/>
    <dgm:cxn modelId="{B8214DC3-C832-4CCA-9226-AD6B8701752E}" srcId="{84473D17-1426-41A7-9F5F-1C7E063E9E33}" destId="{18E2055B-68F8-49C5-9AF5-524E5EDD2F8D}" srcOrd="0" destOrd="0" parTransId="{2133A0DF-87A9-4BAC-A3A6-EF1CA46FD917}" sibTransId="{73E80899-F719-4304-BBCE-2FA9A69E5879}"/>
    <dgm:cxn modelId="{E34B92D8-1F1A-494D-A313-0AC0A3E9D823}" srcId="{9C84E41D-0FD0-43AF-96AA-B0BFFA651A59}" destId="{F0927919-3880-47BC-8C54-7999C0E794C2}" srcOrd="0" destOrd="0" parTransId="{4357B6A0-21BE-4FEF-9F1C-B2E6EFE7BA17}" sibTransId="{00FA81CB-5E57-421F-A291-5E7A22F2E586}"/>
    <dgm:cxn modelId="{463124EE-90BA-4206-A6D1-CF3A932A5844}" type="presOf" srcId="{DC0060EA-76D2-4F9A-AE93-7A03861FF90D}" destId="{B6C5FAE0-B5F0-4101-A3C2-23003E49CD62}" srcOrd="0" destOrd="1" presId="urn:microsoft.com/office/officeart/2018/2/layout/IconVerticalSolidList"/>
    <dgm:cxn modelId="{D766A5F7-07C4-4B97-BCE6-30B3C85FCEA7}" type="presOf" srcId="{02998FA5-5B54-4214-911C-898883BC8669}" destId="{E2F092FE-36E4-41B3-ADFF-185F231EECC0}" srcOrd="0" destOrd="0" presId="urn:microsoft.com/office/officeart/2018/2/layout/IconVerticalSolidList"/>
    <dgm:cxn modelId="{A4675AF5-013B-4C41-986C-D38835034B0F}" type="presParOf" srcId="{F651BCC8-482B-4247-BE1A-9A4708969949}" destId="{9F8211F4-C2D4-4417-BFC1-5F5B03CE16AD}" srcOrd="0" destOrd="0" presId="urn:microsoft.com/office/officeart/2018/2/layout/IconVerticalSolidList"/>
    <dgm:cxn modelId="{954C0D59-7121-492B-AB22-956B9CB64DE4}" type="presParOf" srcId="{9F8211F4-C2D4-4417-BFC1-5F5B03CE16AD}" destId="{B5FA5AEA-47C9-4D4C-967A-BBEF57C2DC66}" srcOrd="0" destOrd="0" presId="urn:microsoft.com/office/officeart/2018/2/layout/IconVerticalSolidList"/>
    <dgm:cxn modelId="{39E69B70-74E6-43B1-BDB3-F2CEEFB11CEB}" type="presParOf" srcId="{9F8211F4-C2D4-4417-BFC1-5F5B03CE16AD}" destId="{955BC293-3FFC-469C-B993-B7E076E2B5F9}" srcOrd="1" destOrd="0" presId="urn:microsoft.com/office/officeart/2018/2/layout/IconVerticalSolidList"/>
    <dgm:cxn modelId="{EABC3177-8181-43C8-BB52-4373611A9561}" type="presParOf" srcId="{9F8211F4-C2D4-4417-BFC1-5F5B03CE16AD}" destId="{77350968-C5FB-4E31-8D28-823742D5BBC0}" srcOrd="2" destOrd="0" presId="urn:microsoft.com/office/officeart/2018/2/layout/IconVerticalSolidList"/>
    <dgm:cxn modelId="{B6E7F9AF-C6FD-4FEE-A966-CF1D33A81725}" type="presParOf" srcId="{9F8211F4-C2D4-4417-BFC1-5F5B03CE16AD}" destId="{9FA216BE-A1CE-491E-94E0-E4A1E9ABD6C8}" srcOrd="3" destOrd="0" presId="urn:microsoft.com/office/officeart/2018/2/layout/IconVerticalSolidList"/>
    <dgm:cxn modelId="{E7F486C4-C580-42A1-8283-006A57DE5E6C}" type="presParOf" srcId="{F651BCC8-482B-4247-BE1A-9A4708969949}" destId="{4F4CEAEC-5DD7-4654-AA29-3F8D3C8D8EC5}" srcOrd="1" destOrd="0" presId="urn:microsoft.com/office/officeart/2018/2/layout/IconVerticalSolidList"/>
    <dgm:cxn modelId="{161C991F-0F90-44CF-8C13-44B6BBCFCC0B}" type="presParOf" srcId="{F651BCC8-482B-4247-BE1A-9A4708969949}" destId="{68A21A66-E686-4627-9BF7-9BF90FDF8579}" srcOrd="2" destOrd="0" presId="urn:microsoft.com/office/officeart/2018/2/layout/IconVerticalSolidList"/>
    <dgm:cxn modelId="{1F8FDDFD-5272-4F62-85C8-5D24F78E1F9E}" type="presParOf" srcId="{68A21A66-E686-4627-9BF7-9BF90FDF8579}" destId="{10BDDA1D-9CA4-451E-822D-87D837E9754D}" srcOrd="0" destOrd="0" presId="urn:microsoft.com/office/officeart/2018/2/layout/IconVerticalSolidList"/>
    <dgm:cxn modelId="{1DF1A768-A3B3-4ABF-9A15-A513C7BBF87B}" type="presParOf" srcId="{68A21A66-E686-4627-9BF7-9BF90FDF8579}" destId="{29A79FFD-02DB-4232-8D9A-F5F3BC053629}" srcOrd="1" destOrd="0" presId="urn:microsoft.com/office/officeart/2018/2/layout/IconVerticalSolidList"/>
    <dgm:cxn modelId="{5B76FB4F-9FEA-43D3-96A4-9B225C624C6F}" type="presParOf" srcId="{68A21A66-E686-4627-9BF7-9BF90FDF8579}" destId="{E030A718-0106-4553-BA4D-788A0CEE937A}" srcOrd="2" destOrd="0" presId="urn:microsoft.com/office/officeart/2018/2/layout/IconVerticalSolidList"/>
    <dgm:cxn modelId="{8C3AD973-CE48-438F-84D4-2F8EF2BCEDD6}" type="presParOf" srcId="{68A21A66-E686-4627-9BF7-9BF90FDF8579}" destId="{E2F092FE-36E4-41B3-ADFF-185F231EECC0}" srcOrd="3" destOrd="0" presId="urn:microsoft.com/office/officeart/2018/2/layout/IconVerticalSolidList"/>
    <dgm:cxn modelId="{5D40B0A9-6204-4254-B4FC-F7185A909872}" type="presParOf" srcId="{68A21A66-E686-4627-9BF7-9BF90FDF8579}" destId="{9A7FAF0F-59BE-4E6A-B9FF-548399298988}" srcOrd="4" destOrd="0" presId="urn:microsoft.com/office/officeart/2018/2/layout/IconVerticalSolidList"/>
    <dgm:cxn modelId="{85A11E2C-5868-42A7-88B3-8179C0D22DD6}" type="presParOf" srcId="{F651BCC8-482B-4247-BE1A-9A4708969949}" destId="{07A72B9B-8B16-4F22-AB9A-91BD09C1DF81}" srcOrd="3" destOrd="0" presId="urn:microsoft.com/office/officeart/2018/2/layout/IconVerticalSolidList"/>
    <dgm:cxn modelId="{BA14D207-7D05-48A3-8AFA-66962DC4DFB6}" type="presParOf" srcId="{F651BCC8-482B-4247-BE1A-9A4708969949}" destId="{06BBB0EC-3E73-4DD3-8021-C6AB88282C7F}" srcOrd="4" destOrd="0" presId="urn:microsoft.com/office/officeart/2018/2/layout/IconVerticalSolidList"/>
    <dgm:cxn modelId="{0AB3B960-B384-429D-B06B-05C8EF76D515}" type="presParOf" srcId="{06BBB0EC-3E73-4DD3-8021-C6AB88282C7F}" destId="{B3EC8024-2D98-4D9D-8F63-FE1EA0302F5C}" srcOrd="0" destOrd="0" presId="urn:microsoft.com/office/officeart/2018/2/layout/IconVerticalSolidList"/>
    <dgm:cxn modelId="{3DB40658-CF72-4FAB-AAE6-8212AF9DE664}" type="presParOf" srcId="{06BBB0EC-3E73-4DD3-8021-C6AB88282C7F}" destId="{F893B662-BB4E-448A-AF22-A633D5FC9019}" srcOrd="1" destOrd="0" presId="urn:microsoft.com/office/officeart/2018/2/layout/IconVerticalSolidList"/>
    <dgm:cxn modelId="{572794C0-9B5F-43B0-B229-5B81D6993AAC}" type="presParOf" srcId="{06BBB0EC-3E73-4DD3-8021-C6AB88282C7F}" destId="{599EF460-FDDC-4BA2-B07D-7211C9AEA2AD}" srcOrd="2" destOrd="0" presId="urn:microsoft.com/office/officeart/2018/2/layout/IconVerticalSolidList"/>
    <dgm:cxn modelId="{6A518AFD-A091-4D1D-885E-C302404ACD2D}" type="presParOf" srcId="{06BBB0EC-3E73-4DD3-8021-C6AB88282C7F}" destId="{349F420B-7112-40DC-AE52-57B03E4647DD}" srcOrd="3" destOrd="0" presId="urn:microsoft.com/office/officeart/2018/2/layout/IconVerticalSolidList"/>
    <dgm:cxn modelId="{D84EF2A6-55C3-4C72-A956-FB271910075D}" type="presParOf" srcId="{06BBB0EC-3E73-4DD3-8021-C6AB88282C7F}" destId="{04539FE4-0BA6-4054-8E72-82E6C3974A15}" srcOrd="4" destOrd="0" presId="urn:microsoft.com/office/officeart/2018/2/layout/IconVerticalSolidList"/>
    <dgm:cxn modelId="{00AD064F-E553-4D45-AB80-9B1E55AF7FE9}" type="presParOf" srcId="{F651BCC8-482B-4247-BE1A-9A4708969949}" destId="{75E5DAAC-6EFD-4F1E-A5AF-8057A299837E}" srcOrd="5" destOrd="0" presId="urn:microsoft.com/office/officeart/2018/2/layout/IconVerticalSolidList"/>
    <dgm:cxn modelId="{D365A974-3ECB-43E6-AC33-669121E22017}" type="presParOf" srcId="{F651BCC8-482B-4247-BE1A-9A4708969949}" destId="{D1F420A9-C9D4-4170-9CDA-E62D799C06BB}" srcOrd="6" destOrd="0" presId="urn:microsoft.com/office/officeart/2018/2/layout/IconVerticalSolidList"/>
    <dgm:cxn modelId="{A4D98F29-3CF8-4791-A2C2-F9F89AAD79AE}" type="presParOf" srcId="{D1F420A9-C9D4-4170-9CDA-E62D799C06BB}" destId="{E35D40D5-DF95-43BE-BC7F-C9E5BD9D88C6}" srcOrd="0" destOrd="0" presId="urn:microsoft.com/office/officeart/2018/2/layout/IconVerticalSolidList"/>
    <dgm:cxn modelId="{973EA499-C10D-4FB7-9065-4F9B1B0BFF7B}" type="presParOf" srcId="{D1F420A9-C9D4-4170-9CDA-E62D799C06BB}" destId="{337FB29C-B287-40E6-80B4-A81F70276937}" srcOrd="1" destOrd="0" presId="urn:microsoft.com/office/officeart/2018/2/layout/IconVerticalSolidList"/>
    <dgm:cxn modelId="{7AC0D625-941D-4116-87EE-9A5EFA168A16}" type="presParOf" srcId="{D1F420A9-C9D4-4170-9CDA-E62D799C06BB}" destId="{62E75886-BD97-4B6E-83F0-5B1AD95C6FDF}" srcOrd="2" destOrd="0" presId="urn:microsoft.com/office/officeart/2018/2/layout/IconVerticalSolidList"/>
    <dgm:cxn modelId="{86888D61-1DEE-4A13-B384-471C07CD7B65}" type="presParOf" srcId="{D1F420A9-C9D4-4170-9CDA-E62D799C06BB}" destId="{6879F8FA-E08F-4089-9435-A3FB98AE84F2}" srcOrd="3" destOrd="0" presId="urn:microsoft.com/office/officeart/2018/2/layout/IconVerticalSolidList"/>
    <dgm:cxn modelId="{D3F80114-BAA5-4E09-8F5F-DE052D21C3D8}" type="presParOf" srcId="{D1F420A9-C9D4-4170-9CDA-E62D799C06BB}" destId="{B6C5FAE0-B5F0-4101-A3C2-23003E49CD62}"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FA5AEA-47C9-4D4C-967A-BBEF57C2DC66}">
      <dsp:nvSpPr>
        <dsp:cNvPr id="0" name=""/>
        <dsp:cNvSpPr/>
      </dsp:nvSpPr>
      <dsp:spPr>
        <a:xfrm>
          <a:off x="0" y="2408"/>
          <a:ext cx="6823479" cy="1220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5BC293-3FFC-469C-B993-B7E076E2B5F9}">
      <dsp:nvSpPr>
        <dsp:cNvPr id="0" name=""/>
        <dsp:cNvSpPr/>
      </dsp:nvSpPr>
      <dsp:spPr>
        <a:xfrm>
          <a:off x="369290" y="277087"/>
          <a:ext cx="671436" cy="6714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A216BE-A1CE-491E-94E0-E4A1E9ABD6C8}">
      <dsp:nvSpPr>
        <dsp:cNvPr id="0" name=""/>
        <dsp:cNvSpPr/>
      </dsp:nvSpPr>
      <dsp:spPr>
        <a:xfrm>
          <a:off x="1410017" y="2408"/>
          <a:ext cx="5413461" cy="1220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201" tIns="129201" rIns="129201" bIns="129201" numCol="1" spcCol="1270" anchor="ctr" anchorCtr="0">
          <a:noAutofit/>
        </a:bodyPr>
        <a:lstStyle/>
        <a:p>
          <a:pPr marL="0" lvl="0" indent="0" algn="l" defTabSz="977900">
            <a:lnSpc>
              <a:spcPct val="100000"/>
            </a:lnSpc>
            <a:spcBef>
              <a:spcPct val="0"/>
            </a:spcBef>
            <a:spcAft>
              <a:spcPct val="35000"/>
            </a:spcAft>
            <a:buNone/>
          </a:pPr>
          <a:r>
            <a:rPr lang="en-US" sz="2200" b="1" kern="1200"/>
            <a:t>Business Problem Statement</a:t>
          </a:r>
          <a:endParaRPr lang="en-US" sz="2200" kern="1200"/>
        </a:p>
      </dsp:txBody>
      <dsp:txXfrm>
        <a:off x="1410017" y="2408"/>
        <a:ext cx="5413461" cy="1220794"/>
      </dsp:txXfrm>
    </dsp:sp>
    <dsp:sp modelId="{10BDDA1D-9CA4-451E-822D-87D837E9754D}">
      <dsp:nvSpPr>
        <dsp:cNvPr id="0" name=""/>
        <dsp:cNvSpPr/>
      </dsp:nvSpPr>
      <dsp:spPr>
        <a:xfrm>
          <a:off x="0" y="1528401"/>
          <a:ext cx="6823479" cy="1220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A79FFD-02DB-4232-8D9A-F5F3BC053629}">
      <dsp:nvSpPr>
        <dsp:cNvPr id="0" name=""/>
        <dsp:cNvSpPr/>
      </dsp:nvSpPr>
      <dsp:spPr>
        <a:xfrm>
          <a:off x="369290" y="1803079"/>
          <a:ext cx="671436" cy="6714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2F092FE-36E4-41B3-ADFF-185F231EECC0}">
      <dsp:nvSpPr>
        <dsp:cNvPr id="0" name=""/>
        <dsp:cNvSpPr/>
      </dsp:nvSpPr>
      <dsp:spPr>
        <a:xfrm>
          <a:off x="1410017" y="1528401"/>
          <a:ext cx="3070565" cy="1220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201" tIns="129201" rIns="129201" bIns="129201" numCol="1" spcCol="1270" anchor="ctr" anchorCtr="0">
          <a:noAutofit/>
        </a:bodyPr>
        <a:lstStyle/>
        <a:p>
          <a:pPr marL="0" lvl="0" indent="0" algn="l" defTabSz="977900">
            <a:lnSpc>
              <a:spcPct val="100000"/>
            </a:lnSpc>
            <a:spcBef>
              <a:spcPct val="0"/>
            </a:spcBef>
            <a:spcAft>
              <a:spcPct val="35000"/>
            </a:spcAft>
            <a:buNone/>
          </a:pPr>
          <a:r>
            <a:rPr lang="en-US" sz="2200" b="1" kern="1200"/>
            <a:t>Objective:</a:t>
          </a:r>
          <a:endParaRPr lang="en-US" sz="2200" kern="1200"/>
        </a:p>
      </dsp:txBody>
      <dsp:txXfrm>
        <a:off x="1410017" y="1528401"/>
        <a:ext cx="3070565" cy="1220794"/>
      </dsp:txXfrm>
    </dsp:sp>
    <dsp:sp modelId="{9A7FAF0F-59BE-4E6A-B9FF-548399298988}">
      <dsp:nvSpPr>
        <dsp:cNvPr id="0" name=""/>
        <dsp:cNvSpPr/>
      </dsp:nvSpPr>
      <dsp:spPr>
        <a:xfrm>
          <a:off x="4480582" y="1528401"/>
          <a:ext cx="2342896" cy="1220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201" tIns="129201" rIns="129201" bIns="129201" numCol="1" spcCol="1270" anchor="ctr" anchorCtr="0">
          <a:noAutofit/>
        </a:bodyPr>
        <a:lstStyle/>
        <a:p>
          <a:pPr marL="0" lvl="0" indent="0" algn="l" defTabSz="488950">
            <a:lnSpc>
              <a:spcPct val="100000"/>
            </a:lnSpc>
            <a:spcBef>
              <a:spcPct val="0"/>
            </a:spcBef>
            <a:spcAft>
              <a:spcPct val="35000"/>
            </a:spcAft>
            <a:buNone/>
          </a:pPr>
          <a:r>
            <a:rPr lang="en-US" sz="1100" kern="1200"/>
            <a:t>Analyze NYC taxi data to understand daily demand, hotspot locations, and fare trends.</a:t>
          </a:r>
        </a:p>
      </dsp:txBody>
      <dsp:txXfrm>
        <a:off x="4480582" y="1528401"/>
        <a:ext cx="2342896" cy="1220794"/>
      </dsp:txXfrm>
    </dsp:sp>
    <dsp:sp modelId="{B3EC8024-2D98-4D9D-8F63-FE1EA0302F5C}">
      <dsp:nvSpPr>
        <dsp:cNvPr id="0" name=""/>
        <dsp:cNvSpPr/>
      </dsp:nvSpPr>
      <dsp:spPr>
        <a:xfrm>
          <a:off x="0" y="3054393"/>
          <a:ext cx="6823479" cy="1220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93B662-BB4E-448A-AF22-A633D5FC9019}">
      <dsp:nvSpPr>
        <dsp:cNvPr id="0" name=""/>
        <dsp:cNvSpPr/>
      </dsp:nvSpPr>
      <dsp:spPr>
        <a:xfrm>
          <a:off x="369290" y="3329072"/>
          <a:ext cx="671436" cy="6714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49F420B-7112-40DC-AE52-57B03E4647DD}">
      <dsp:nvSpPr>
        <dsp:cNvPr id="0" name=""/>
        <dsp:cNvSpPr/>
      </dsp:nvSpPr>
      <dsp:spPr>
        <a:xfrm>
          <a:off x="1410017" y="3054393"/>
          <a:ext cx="3070565" cy="1220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201" tIns="129201" rIns="129201" bIns="129201" numCol="1" spcCol="1270" anchor="ctr" anchorCtr="0">
          <a:noAutofit/>
        </a:bodyPr>
        <a:lstStyle/>
        <a:p>
          <a:pPr marL="0" lvl="0" indent="0" algn="l" defTabSz="977900">
            <a:lnSpc>
              <a:spcPct val="100000"/>
            </a:lnSpc>
            <a:spcBef>
              <a:spcPct val="0"/>
            </a:spcBef>
            <a:spcAft>
              <a:spcPct val="35000"/>
            </a:spcAft>
            <a:buNone/>
          </a:pPr>
          <a:r>
            <a:rPr lang="en-US" sz="2200" b="1" kern="1200"/>
            <a:t>Why It Matters:</a:t>
          </a:r>
          <a:endParaRPr lang="en-US" sz="2200" kern="1200"/>
        </a:p>
      </dsp:txBody>
      <dsp:txXfrm>
        <a:off x="1410017" y="3054393"/>
        <a:ext cx="3070565" cy="1220794"/>
      </dsp:txXfrm>
    </dsp:sp>
    <dsp:sp modelId="{04539FE4-0BA6-4054-8E72-82E6C3974A15}">
      <dsp:nvSpPr>
        <dsp:cNvPr id="0" name=""/>
        <dsp:cNvSpPr/>
      </dsp:nvSpPr>
      <dsp:spPr>
        <a:xfrm>
          <a:off x="4480582" y="3054393"/>
          <a:ext cx="2342896" cy="1220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201" tIns="129201" rIns="129201" bIns="129201" numCol="1" spcCol="1270" anchor="ctr" anchorCtr="0">
          <a:noAutofit/>
        </a:bodyPr>
        <a:lstStyle/>
        <a:p>
          <a:pPr marL="0" lvl="0" indent="0" algn="l" defTabSz="488950">
            <a:lnSpc>
              <a:spcPct val="100000"/>
            </a:lnSpc>
            <a:spcBef>
              <a:spcPct val="0"/>
            </a:spcBef>
            <a:spcAft>
              <a:spcPct val="35000"/>
            </a:spcAft>
            <a:buNone/>
          </a:pPr>
          <a:r>
            <a:rPr lang="en-US" sz="1100" kern="1200"/>
            <a:t>Helps improve resource allocation, optimize pricing strategies, and informs urban planning decisions.</a:t>
          </a:r>
        </a:p>
      </dsp:txBody>
      <dsp:txXfrm>
        <a:off x="4480582" y="3054393"/>
        <a:ext cx="2342896" cy="1220794"/>
      </dsp:txXfrm>
    </dsp:sp>
    <dsp:sp modelId="{E35D40D5-DF95-43BE-BC7F-C9E5BD9D88C6}">
      <dsp:nvSpPr>
        <dsp:cNvPr id="0" name=""/>
        <dsp:cNvSpPr/>
      </dsp:nvSpPr>
      <dsp:spPr>
        <a:xfrm>
          <a:off x="0" y="4580386"/>
          <a:ext cx="6823479" cy="1220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7FB29C-B287-40E6-80B4-A81F70276937}">
      <dsp:nvSpPr>
        <dsp:cNvPr id="0" name=""/>
        <dsp:cNvSpPr/>
      </dsp:nvSpPr>
      <dsp:spPr>
        <a:xfrm>
          <a:off x="369290" y="4855064"/>
          <a:ext cx="671436" cy="6714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879F8FA-E08F-4089-9435-A3FB98AE84F2}">
      <dsp:nvSpPr>
        <dsp:cNvPr id="0" name=""/>
        <dsp:cNvSpPr/>
      </dsp:nvSpPr>
      <dsp:spPr>
        <a:xfrm>
          <a:off x="1410017" y="4580386"/>
          <a:ext cx="3070565" cy="1220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201" tIns="129201" rIns="129201" bIns="129201" numCol="1" spcCol="1270" anchor="ctr" anchorCtr="0">
          <a:noAutofit/>
        </a:bodyPr>
        <a:lstStyle/>
        <a:p>
          <a:pPr marL="0" lvl="0" indent="0" algn="l" defTabSz="977900">
            <a:lnSpc>
              <a:spcPct val="100000"/>
            </a:lnSpc>
            <a:spcBef>
              <a:spcPct val="0"/>
            </a:spcBef>
            <a:spcAft>
              <a:spcPct val="35000"/>
            </a:spcAft>
            <a:buNone/>
          </a:pPr>
          <a:r>
            <a:rPr lang="en-US" sz="2200" b="1" kern="1200"/>
            <a:t>Key Questions:</a:t>
          </a:r>
          <a:endParaRPr lang="en-US" sz="2200" kern="1200"/>
        </a:p>
      </dsp:txBody>
      <dsp:txXfrm>
        <a:off x="1410017" y="4580386"/>
        <a:ext cx="3070565" cy="1220794"/>
      </dsp:txXfrm>
    </dsp:sp>
    <dsp:sp modelId="{B6C5FAE0-B5F0-4101-A3C2-23003E49CD62}">
      <dsp:nvSpPr>
        <dsp:cNvPr id="0" name=""/>
        <dsp:cNvSpPr/>
      </dsp:nvSpPr>
      <dsp:spPr>
        <a:xfrm>
          <a:off x="4480582" y="4580386"/>
          <a:ext cx="2342896" cy="1220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201" tIns="129201" rIns="129201" bIns="129201" numCol="1" spcCol="1270" anchor="ctr" anchorCtr="0">
          <a:noAutofit/>
        </a:bodyPr>
        <a:lstStyle/>
        <a:p>
          <a:pPr marL="0" lvl="0" indent="0" algn="l" defTabSz="488950">
            <a:lnSpc>
              <a:spcPct val="100000"/>
            </a:lnSpc>
            <a:spcBef>
              <a:spcPct val="0"/>
            </a:spcBef>
            <a:spcAft>
              <a:spcPct val="35000"/>
            </a:spcAft>
            <a:buNone/>
          </a:pPr>
          <a:r>
            <a:rPr lang="en-US" sz="1100" kern="1200"/>
            <a:t>How do daily trip volumes vary?</a:t>
          </a:r>
        </a:p>
        <a:p>
          <a:pPr marL="0" lvl="0" indent="0" algn="l" defTabSz="488950">
            <a:lnSpc>
              <a:spcPct val="100000"/>
            </a:lnSpc>
            <a:spcBef>
              <a:spcPct val="0"/>
            </a:spcBef>
            <a:spcAft>
              <a:spcPct val="35000"/>
            </a:spcAft>
            <a:buNone/>
          </a:pPr>
          <a:r>
            <a:rPr lang="en-US" sz="1100" kern="1200"/>
            <a:t>Which pickup locations show the highest demand?</a:t>
          </a:r>
        </a:p>
        <a:p>
          <a:pPr marL="0" lvl="0" indent="0" algn="l" defTabSz="488950">
            <a:lnSpc>
              <a:spcPct val="100000"/>
            </a:lnSpc>
            <a:spcBef>
              <a:spcPct val="0"/>
            </a:spcBef>
            <a:spcAft>
              <a:spcPct val="35000"/>
            </a:spcAft>
            <a:buNone/>
          </a:pPr>
          <a:r>
            <a:rPr lang="en-US" sz="1100" kern="1200"/>
            <a:t>How do average fares change over time?</a:t>
          </a:r>
        </a:p>
      </dsp:txBody>
      <dsp:txXfrm>
        <a:off x="4480582" y="4580386"/>
        <a:ext cx="2342896" cy="122079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B95C9-4C86-47FE-8B92-FD15408E9BFA}" type="datetimeFigureOut">
              <a:rPr lang="en-US" smtClean="0"/>
              <a:t>3/24/2025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D2C268-27B6-4610-9C12-ED3D202F9676}" type="slidenum">
              <a:rPr lang="en-US" smtClean="0"/>
              <a:t>‹#›</a:t>
            </a:fld>
            <a:endParaRPr lang="en-US"/>
          </a:p>
        </p:txBody>
      </p:sp>
    </p:spTree>
    <p:extLst>
      <p:ext uri="{BB962C8B-B14F-4D97-AF65-F5344CB8AC3E}">
        <p14:creationId xmlns:p14="http://schemas.microsoft.com/office/powerpoint/2010/main" val="145816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of Taxis:</a:t>
            </a:r>
          </a:p>
          <a:p>
            <a:r>
              <a:rPr lang="en-US" dirty="0"/>
              <a:t>Yellow Taxi Cabs</a:t>
            </a:r>
          </a:p>
          <a:p>
            <a:r>
              <a:rPr lang="en-US" dirty="0"/>
              <a:t>Green Cabs</a:t>
            </a:r>
          </a:p>
          <a:p>
            <a:r>
              <a:rPr lang="en-US" dirty="0"/>
              <a:t>For-Hire </a:t>
            </a:r>
            <a:r>
              <a:rPr lang="en-US" dirty="0" err="1"/>
              <a:t>Vechicles</a:t>
            </a:r>
            <a:endParaRPr lang="en-US" dirty="0"/>
          </a:p>
          <a:p>
            <a:r>
              <a:rPr lang="en-US" dirty="0"/>
              <a:t>Commuter Vans</a:t>
            </a:r>
          </a:p>
          <a:p>
            <a:r>
              <a:rPr lang="en-US" dirty="0"/>
              <a:t>Paratransit </a:t>
            </a:r>
            <a:r>
              <a:rPr lang="en-US" dirty="0" err="1"/>
              <a:t>Vechicles</a:t>
            </a:r>
            <a:endParaRPr lang="en-US" dirty="0"/>
          </a:p>
          <a:p>
            <a:endParaRPr lang="en-US" dirty="0"/>
          </a:p>
          <a:p>
            <a:r>
              <a:rPr lang="en-US" dirty="0"/>
              <a:t>Yellow Taxicabs:</a:t>
            </a:r>
          </a:p>
          <a:p>
            <a:r>
              <a:rPr lang="en-US" b="0" i="0" dirty="0">
                <a:solidFill>
                  <a:srgbClr val="333333"/>
                </a:solidFill>
                <a:effectLst/>
                <a:latin typeface="Helvetica Neue"/>
              </a:rPr>
              <a:t>Yellow taxicabs are the iconic, yellow vehicles that have the right to pick up street-hailing passengers anywhere in New York City. By law, there are 13,587 taxis in New York City and each taxi must have a medallion affixed to it.</a:t>
            </a:r>
            <a:endParaRPr lang="en-US" dirty="0"/>
          </a:p>
        </p:txBody>
      </p:sp>
      <p:sp>
        <p:nvSpPr>
          <p:cNvPr id="4" name="Slide Number Placeholder 3"/>
          <p:cNvSpPr>
            <a:spLocks noGrp="1"/>
          </p:cNvSpPr>
          <p:nvPr>
            <p:ph type="sldNum" sz="quarter" idx="5"/>
          </p:nvPr>
        </p:nvSpPr>
        <p:spPr/>
        <p:txBody>
          <a:bodyPr/>
          <a:lstStyle/>
          <a:p>
            <a:fld id="{58D2C268-27B6-4610-9C12-ED3D202F9676}" type="slidenum">
              <a:rPr lang="en-US" smtClean="0"/>
              <a:t>2</a:t>
            </a:fld>
            <a:endParaRPr lang="en-US"/>
          </a:p>
        </p:txBody>
      </p:sp>
    </p:spTree>
    <p:extLst>
      <p:ext uri="{BB962C8B-B14F-4D97-AF65-F5344CB8AC3E}">
        <p14:creationId xmlns:p14="http://schemas.microsoft.com/office/powerpoint/2010/main" val="3298347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Location:- https://www.nyc.gov/site/tlc/about/tlc-trip-record-data.page</a:t>
            </a:r>
          </a:p>
          <a:p>
            <a:r>
              <a:rPr lang="en-US" dirty="0"/>
              <a:t>Dataset size:</a:t>
            </a:r>
          </a:p>
          <a:p>
            <a:r>
              <a:rPr lang="en-US" dirty="0"/>
              <a:t>2025 – </a:t>
            </a:r>
            <a:r>
              <a:rPr lang="en-US" b="0" i="0" dirty="0">
                <a:solidFill>
                  <a:srgbClr val="1F1F1F"/>
                </a:solidFill>
                <a:effectLst/>
                <a:latin typeface="Courier New" panose="02070309020205020404" pitchFamily="49" charset="0"/>
              </a:rPr>
              <a:t>3475225</a:t>
            </a:r>
          </a:p>
          <a:p>
            <a:r>
              <a:rPr lang="en-US" b="0" i="0" dirty="0">
                <a:solidFill>
                  <a:srgbClr val="1F1F1F"/>
                </a:solidFill>
                <a:effectLst/>
                <a:latin typeface="Courier New" panose="02070309020205020404" pitchFamily="49" charset="0"/>
              </a:rPr>
              <a:t>2024 - 2964623</a:t>
            </a:r>
            <a:endParaRPr lang="en-US" dirty="0"/>
          </a:p>
        </p:txBody>
      </p:sp>
      <p:sp>
        <p:nvSpPr>
          <p:cNvPr id="4" name="Slide Number Placeholder 3"/>
          <p:cNvSpPr>
            <a:spLocks noGrp="1"/>
          </p:cNvSpPr>
          <p:nvPr>
            <p:ph type="sldNum" sz="quarter" idx="5"/>
          </p:nvPr>
        </p:nvSpPr>
        <p:spPr/>
        <p:txBody>
          <a:bodyPr/>
          <a:lstStyle/>
          <a:p>
            <a:fld id="{58D2C268-27B6-4610-9C12-ED3D202F9676}" type="slidenum">
              <a:rPr lang="en-US" smtClean="0"/>
              <a:t>3</a:t>
            </a:fld>
            <a:endParaRPr lang="en-US"/>
          </a:p>
        </p:txBody>
      </p:sp>
    </p:spTree>
    <p:extLst>
      <p:ext uri="{BB962C8B-B14F-4D97-AF65-F5344CB8AC3E}">
        <p14:creationId xmlns:p14="http://schemas.microsoft.com/office/powerpoint/2010/main" val="3011038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size:</a:t>
            </a:r>
          </a:p>
          <a:p>
            <a:r>
              <a:rPr lang="en-US" dirty="0"/>
              <a:t>2025 – </a:t>
            </a:r>
            <a:r>
              <a:rPr lang="en-US" b="0" i="0" dirty="0">
                <a:solidFill>
                  <a:srgbClr val="1F1F1F"/>
                </a:solidFill>
                <a:effectLst/>
                <a:latin typeface="Courier New" panose="02070309020205020404" pitchFamily="49" charset="0"/>
              </a:rPr>
              <a:t>3475225</a:t>
            </a:r>
          </a:p>
          <a:p>
            <a:r>
              <a:rPr lang="en-US" b="0" i="0" dirty="0">
                <a:solidFill>
                  <a:srgbClr val="1F1F1F"/>
                </a:solidFill>
                <a:effectLst/>
                <a:latin typeface="Courier New" panose="02070309020205020404" pitchFamily="49" charset="0"/>
              </a:rPr>
              <a:t>2024 - 2964623</a:t>
            </a:r>
            <a:endParaRPr lang="en-US" dirty="0"/>
          </a:p>
        </p:txBody>
      </p:sp>
      <p:sp>
        <p:nvSpPr>
          <p:cNvPr id="4" name="Slide Number Placeholder 3"/>
          <p:cNvSpPr>
            <a:spLocks noGrp="1"/>
          </p:cNvSpPr>
          <p:nvPr>
            <p:ph type="sldNum" sz="quarter" idx="5"/>
          </p:nvPr>
        </p:nvSpPr>
        <p:spPr/>
        <p:txBody>
          <a:bodyPr/>
          <a:lstStyle/>
          <a:p>
            <a:fld id="{58D2C268-27B6-4610-9C12-ED3D202F9676}" type="slidenum">
              <a:rPr lang="en-US" smtClean="0"/>
              <a:t>4</a:t>
            </a:fld>
            <a:endParaRPr lang="en-US"/>
          </a:p>
        </p:txBody>
      </p:sp>
    </p:spTree>
    <p:extLst>
      <p:ext uri="{BB962C8B-B14F-4D97-AF65-F5344CB8AC3E}">
        <p14:creationId xmlns:p14="http://schemas.microsoft.com/office/powerpoint/2010/main" val="394736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EA7947-E287-4738-8C82-07CE4F01EF03}" type="datetime2">
              <a:rPr lang="en-US" smtClean="0"/>
              <a:t>Monday, March 24, 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r>
              <a:rPr lang="en-US"/>
              <a:t>Sample Footer</a:t>
            </a:r>
          </a:p>
        </p:txBody>
      </p:sp>
      <p:sp>
        <p:nvSpPr>
          <p:cNvPr id="6" name="Slide Number Placeholder 5"/>
          <p:cNvSpPr>
            <a:spLocks noGrp="1"/>
          </p:cNvSpPr>
          <p:nvPr>
            <p:ph type="sldNum" sz="quarter" idx="12"/>
          </p:nvPr>
        </p:nvSpPr>
        <p:spPr>
          <a:xfrm>
            <a:off x="1437664" y="798973"/>
            <a:ext cx="811019" cy="503578"/>
          </a:xfrm>
        </p:spPr>
        <p:txBody>
          <a:bodyPr/>
          <a:lstStyle/>
          <a:p>
            <a:fld id="{DBA1B0FB-D917-4C8C-928F-313BD683BF39}"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53708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8C025-CD7A-4966-867E-81CF82B15267}" type="datetime2">
              <a:rPr lang="en-US" smtClean="0"/>
              <a:t>Monday, March 24, 2025</a:t>
            </a:fld>
            <a:endParaRPr lang="en-US"/>
          </a:p>
        </p:txBody>
      </p:sp>
      <p:sp>
        <p:nvSpPr>
          <p:cNvPr id="5" name="Footer Placeholder 4"/>
          <p:cNvSpPr>
            <a:spLocks noGrp="1"/>
          </p:cNvSpPr>
          <p:nvPr>
            <p:ph type="ftr" sz="quarter" idx="11"/>
          </p:nvPr>
        </p:nvSpPr>
        <p:spPr/>
        <p:txBody>
          <a:bodyPr/>
          <a:lstStyle/>
          <a:p>
            <a:r>
              <a:rPr lang="en-US"/>
              <a:t>Sample Footer</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95358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809929-0719-4517-94D6-FDF7F99E70F6}" type="datetime2">
              <a:rPr lang="en-US" smtClean="0"/>
              <a:t>Monday, March 24, 2025</a:t>
            </a:fld>
            <a:endParaRPr lang="en-US"/>
          </a:p>
        </p:txBody>
      </p:sp>
      <p:sp>
        <p:nvSpPr>
          <p:cNvPr id="5" name="Footer Placeholder 4"/>
          <p:cNvSpPr>
            <a:spLocks noGrp="1"/>
          </p:cNvSpPr>
          <p:nvPr>
            <p:ph type="ftr" sz="quarter" idx="11"/>
          </p:nvPr>
        </p:nvSpPr>
        <p:spPr/>
        <p:txBody>
          <a:bodyPr/>
          <a:lstStyle/>
          <a:p>
            <a:r>
              <a:rPr lang="en-US"/>
              <a:t>Sample Footer</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741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E95673-5512-4AAA-9AEB-E00C61EC65D5}" type="datetime2">
              <a:rPr lang="en-US" smtClean="0"/>
              <a:t>Monday, March 24, 2025</a:t>
            </a:fld>
            <a:endParaRPr lang="en-US"/>
          </a:p>
        </p:txBody>
      </p:sp>
      <p:sp>
        <p:nvSpPr>
          <p:cNvPr id="6" name="Footer Placeholder 5"/>
          <p:cNvSpPr>
            <a:spLocks noGrp="1"/>
          </p:cNvSpPr>
          <p:nvPr>
            <p:ph type="ftr" sz="quarter" idx="11"/>
          </p:nvPr>
        </p:nvSpPr>
        <p:spPr/>
        <p:txBody>
          <a:bodyPr/>
          <a:lstStyle/>
          <a:p>
            <a:r>
              <a:rPr lang="en-US"/>
              <a:t>Sample Footer</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678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3138FA-2E87-4873-8BBA-13E447C9A99A}" type="datetime2">
              <a:rPr lang="en-US" smtClean="0"/>
              <a:t>Monday, March 24, 2025</a:t>
            </a:fld>
            <a:endParaRPr lang="en-US"/>
          </a:p>
        </p:txBody>
      </p:sp>
      <p:sp>
        <p:nvSpPr>
          <p:cNvPr id="8" name="Footer Placeholder 7"/>
          <p:cNvSpPr>
            <a:spLocks noGrp="1"/>
          </p:cNvSpPr>
          <p:nvPr>
            <p:ph type="ftr" sz="quarter" idx="11"/>
          </p:nvPr>
        </p:nvSpPr>
        <p:spPr/>
        <p:txBody>
          <a:bodyPr/>
          <a:lstStyle/>
          <a:p>
            <a:r>
              <a:rPr lang="en-US"/>
              <a:t>Sample Footer</a:t>
            </a:r>
          </a:p>
        </p:txBody>
      </p:sp>
      <p:sp>
        <p:nvSpPr>
          <p:cNvPr id="9" name="Slide Number Placeholder 8"/>
          <p:cNvSpPr>
            <a:spLocks noGrp="1"/>
          </p:cNvSpPr>
          <p:nvPr>
            <p:ph type="sldNum" sz="quarter" idx="12"/>
          </p:nvPr>
        </p:nvSpPr>
        <p:spPr/>
        <p:txBody>
          <a:bodyPr/>
          <a:lstStyle/>
          <a:p>
            <a:fld id="{DBA1B0FB-D917-4C8C-928F-313BD683BF39}"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87758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5BB40A-97BD-4BFB-B639-0BFF95FDE8B7}" type="datetime2">
              <a:rPr lang="en-US" smtClean="0"/>
              <a:t>Monday, March 24, 2025</a:t>
            </a:fld>
            <a:endParaRPr lang="en-US"/>
          </a:p>
        </p:txBody>
      </p:sp>
      <p:sp>
        <p:nvSpPr>
          <p:cNvPr id="4" name="Footer Placeholder 3"/>
          <p:cNvSpPr>
            <a:spLocks noGrp="1"/>
          </p:cNvSpPr>
          <p:nvPr>
            <p:ph type="ftr" sz="quarter" idx="11"/>
          </p:nvPr>
        </p:nvSpPr>
        <p:spPr/>
        <p:txBody>
          <a:bodyPr/>
          <a:lstStyle/>
          <a:p>
            <a:r>
              <a:rPr lang="en-US"/>
              <a:t>Sample Footer</a:t>
            </a:r>
          </a:p>
        </p:txBody>
      </p:sp>
      <p:sp>
        <p:nvSpPr>
          <p:cNvPr id="5" name="Slide Number Placeholder 4"/>
          <p:cNvSpPr>
            <a:spLocks noGrp="1"/>
          </p:cNvSpPr>
          <p:nvPr>
            <p:ph type="sldNum" sz="quarter" idx="12"/>
          </p:nvPr>
        </p:nvSpPr>
        <p:spPr/>
        <p:txBody>
          <a:bodyPr/>
          <a:lstStyle/>
          <a:p>
            <a:fld id="{DBA1B0FB-D917-4C8C-928F-313BD683BF39}"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01323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E9E0E3-ECF6-4CFE-8698-AEFEBCECC3C0}" type="datetime2">
              <a:rPr lang="en-US" smtClean="0"/>
              <a:t>Monday, March 24, 2025</a:t>
            </a:fld>
            <a:endParaRPr lang="en-US"/>
          </a:p>
        </p:txBody>
      </p:sp>
      <p:sp>
        <p:nvSpPr>
          <p:cNvPr id="3" name="Footer Placeholder 2"/>
          <p:cNvSpPr>
            <a:spLocks noGrp="1"/>
          </p:cNvSpPr>
          <p:nvPr>
            <p:ph type="ftr" sz="quarter" idx="11"/>
          </p:nvPr>
        </p:nvSpPr>
        <p:spPr/>
        <p:txBody>
          <a:bodyPr/>
          <a:lstStyle/>
          <a:p>
            <a:r>
              <a:rPr lang="en-US"/>
              <a:t>Sample Footer</a:t>
            </a:r>
          </a:p>
        </p:txBody>
      </p:sp>
      <p:sp>
        <p:nvSpPr>
          <p:cNvPr id="4" name="Slide Number Placeholder 3"/>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635131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1462FC-960E-4740-921F-B36862979F21}" type="datetime2">
              <a:rPr lang="en-US" smtClean="0"/>
              <a:t>Monday, March 24, 2025</a:t>
            </a:fld>
            <a:endParaRPr lang="en-US"/>
          </a:p>
        </p:txBody>
      </p:sp>
      <p:sp>
        <p:nvSpPr>
          <p:cNvPr id="6" name="Footer Placeholder 5"/>
          <p:cNvSpPr>
            <a:spLocks noGrp="1"/>
          </p:cNvSpPr>
          <p:nvPr>
            <p:ph type="ftr" sz="quarter" idx="11"/>
          </p:nvPr>
        </p:nvSpPr>
        <p:spPr/>
        <p:txBody>
          <a:bodyPr/>
          <a:lstStyle/>
          <a:p>
            <a:r>
              <a:rPr lang="en-US"/>
              <a:t>Sample Footer</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2141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50BC9E2-CB44-4C05-9BB5-496C18A241E0}" type="datetime2">
              <a:rPr lang="en-US" smtClean="0"/>
              <a:t>Monday, March 24, 2025</a:t>
            </a:fld>
            <a:endParaRPr lang="en-US"/>
          </a:p>
        </p:txBody>
      </p:sp>
      <p:sp>
        <p:nvSpPr>
          <p:cNvPr id="6" name="Footer Placeholder 5"/>
          <p:cNvSpPr>
            <a:spLocks noGrp="1"/>
          </p:cNvSpPr>
          <p:nvPr>
            <p:ph type="ftr" sz="quarter" idx="11"/>
          </p:nvPr>
        </p:nvSpPr>
        <p:spPr>
          <a:xfrm>
            <a:off x="1447382" y="318640"/>
            <a:ext cx="5541004" cy="320931"/>
          </a:xfrm>
        </p:spPr>
        <p:txBody>
          <a:bodyPr/>
          <a:lstStyle/>
          <a:p>
            <a:r>
              <a:rPr lang="en-US"/>
              <a:t>Sample Footer</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29090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2EBD84-71F4-4271-8C46-0D47C0A9B12E}" type="datetime2">
              <a:rPr lang="en-US" smtClean="0"/>
              <a:t>Monday, March 24, 2025</a:t>
            </a:fld>
            <a:endParaRPr lang="en-US"/>
          </a:p>
        </p:txBody>
      </p:sp>
      <p:sp>
        <p:nvSpPr>
          <p:cNvPr id="5" name="Footer Placeholder 4"/>
          <p:cNvSpPr>
            <a:spLocks noGrp="1"/>
          </p:cNvSpPr>
          <p:nvPr>
            <p:ph type="ftr" sz="quarter" idx="11"/>
          </p:nvPr>
        </p:nvSpPr>
        <p:spPr/>
        <p:txBody>
          <a:bodyPr/>
          <a:lstStyle/>
          <a:p>
            <a:r>
              <a:rPr lang="en-US"/>
              <a:t>Sample Footer</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397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AE0CE1-F450-4107-B2CB-17B18F8A3F4A}" type="datetime2">
              <a:rPr lang="en-US" smtClean="0"/>
              <a:t>Monday, March 24, 2025</a:t>
            </a:fld>
            <a:endParaRPr lang="en-US"/>
          </a:p>
        </p:txBody>
      </p:sp>
      <p:sp>
        <p:nvSpPr>
          <p:cNvPr id="5" name="Footer Placeholder 4"/>
          <p:cNvSpPr>
            <a:spLocks noGrp="1"/>
          </p:cNvSpPr>
          <p:nvPr>
            <p:ph type="ftr" sz="quarter" idx="11"/>
          </p:nvPr>
        </p:nvSpPr>
        <p:spPr/>
        <p:txBody>
          <a:bodyPr/>
          <a:lstStyle/>
          <a:p>
            <a:r>
              <a:rPr lang="en-US"/>
              <a:t>Sample Footer</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33987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46CB39B-5F4C-4A7E-9BE3-AAFD45576D16}" type="datetime2">
              <a:rPr lang="en-US" smtClean="0"/>
              <a:t>Monday, March 24, 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Sample Footer</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BA1B0FB-D917-4C8C-928F-313BD683BF39}" type="slidenum">
              <a:rPr lang="en-US" smtClean="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64617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lorful light bulb with business icons">
            <a:extLst>
              <a:ext uri="{FF2B5EF4-FFF2-40B4-BE49-F238E27FC236}">
                <a16:creationId xmlns:a16="http://schemas.microsoft.com/office/drawing/2014/main" id="{6166D472-69D7-474D-48B1-6B8BA7843226}"/>
              </a:ext>
            </a:extLst>
          </p:cNvPr>
          <p:cNvPicPr>
            <a:picLocks noChangeAspect="1"/>
          </p:cNvPicPr>
          <p:nvPr/>
        </p:nvPicPr>
        <p:blipFill>
          <a:blip r:embed="rId3">
            <a:alphaModFix amt="50000"/>
          </a:blip>
          <a:srcRect t="9777" r="-1" b="9863"/>
          <a:stretch/>
        </p:blipFill>
        <p:spPr>
          <a:xfrm>
            <a:off x="305" y="10"/>
            <a:ext cx="12191695" cy="6857990"/>
          </a:xfrm>
          <a:prstGeom prst="rect">
            <a:avLst/>
          </a:prstGeom>
        </p:spPr>
      </p:pic>
      <p:sp>
        <p:nvSpPr>
          <p:cNvPr id="19"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1"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23" name="Rectangle 22">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2D35061D-9EAE-9E12-8C54-617FD71555B9}"/>
              </a:ext>
            </a:extLst>
          </p:cNvPr>
          <p:cNvSpPr>
            <a:spLocks noGrp="1"/>
          </p:cNvSpPr>
          <p:nvPr>
            <p:ph type="ctrTitle"/>
          </p:nvPr>
        </p:nvSpPr>
        <p:spPr>
          <a:xfrm>
            <a:off x="1130271" y="1193800"/>
            <a:ext cx="3193050" cy="4699000"/>
          </a:xfrm>
        </p:spPr>
        <p:txBody>
          <a:bodyPr vert="horz" lIns="91440" tIns="45720" rIns="91440" bIns="45720" rtlCol="0" anchor="ctr" anchorCtr="0">
            <a:normAutofit/>
          </a:bodyPr>
          <a:lstStyle/>
          <a:p>
            <a:r>
              <a:rPr lang="en-US" sz="3200"/>
              <a:t>NYC Taxi Data Analysis: Comparing January 2024 &amp; January 2025</a:t>
            </a:r>
          </a:p>
        </p:txBody>
      </p:sp>
      <p:cxnSp>
        <p:nvCxnSpPr>
          <p:cNvPr id="25" name="Straight Connector 24">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9E290C0A-A38B-0BFE-2A04-5D88973E4BB1}"/>
              </a:ext>
            </a:extLst>
          </p:cNvPr>
          <p:cNvSpPr>
            <a:spLocks noGrp="1"/>
          </p:cNvSpPr>
          <p:nvPr>
            <p:ph type="subTitle" idx="1"/>
          </p:nvPr>
        </p:nvSpPr>
        <p:spPr>
          <a:xfrm>
            <a:off x="4976636" y="1193800"/>
            <a:ext cx="6085091" cy="4699000"/>
          </a:xfrm>
        </p:spPr>
        <p:txBody>
          <a:bodyPr vert="horz" lIns="91440" tIns="45720" rIns="91440" bIns="45720" rtlCol="0" anchor="ctr">
            <a:normAutofit/>
          </a:bodyPr>
          <a:lstStyle/>
          <a:p>
            <a:pPr indent="-228600">
              <a:buFont typeface="Arial" panose="020B0604020202020204" pitchFamily="34" charset="0"/>
              <a:buChar char="•"/>
            </a:pPr>
            <a:endParaRPr lang="en-US" dirty="0"/>
          </a:p>
          <a:p>
            <a:r>
              <a:rPr lang="en-US" b="1" dirty="0"/>
              <a:t>Team Members:</a:t>
            </a:r>
          </a:p>
          <a:p>
            <a:pPr indent="-228600">
              <a:buFont typeface="Arial" panose="020B0604020202020204" pitchFamily="34" charset="0"/>
              <a:buChar char="•"/>
            </a:pPr>
            <a:r>
              <a:rPr lang="en-US" b="1" dirty="0"/>
              <a:t>Karthik Vinay Kumar Adari</a:t>
            </a:r>
          </a:p>
          <a:p>
            <a:pPr indent="-228600">
              <a:buFont typeface="Arial" panose="020B0604020202020204" pitchFamily="34" charset="0"/>
              <a:buChar char="•"/>
            </a:pPr>
            <a:r>
              <a:rPr lang="en-US" b="1" dirty="0"/>
              <a:t>Yojitha Naga Vaibhavi Uppala</a:t>
            </a:r>
          </a:p>
          <a:p>
            <a:pPr indent="-228600">
              <a:buFont typeface="Arial" panose="020B0604020202020204" pitchFamily="34" charset="0"/>
              <a:buChar char="•"/>
            </a:pPr>
            <a:r>
              <a:rPr lang="en-US" b="1" dirty="0"/>
              <a:t>Anuhya </a:t>
            </a:r>
            <a:r>
              <a:rPr lang="en-US" b="1" dirty="0" err="1"/>
              <a:t>Vaagita</a:t>
            </a:r>
            <a:endParaRPr lang="en-US" b="1" dirty="0"/>
          </a:p>
        </p:txBody>
      </p:sp>
      <p:sp>
        <p:nvSpPr>
          <p:cNvPr id="27"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36424276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4" name="TextBox 1">
            <a:extLst>
              <a:ext uri="{FF2B5EF4-FFF2-40B4-BE49-F238E27FC236}">
                <a16:creationId xmlns:a16="http://schemas.microsoft.com/office/drawing/2014/main" id="{0966C39B-371A-40AF-6AB5-238F169C838D}"/>
              </a:ext>
            </a:extLst>
          </p:cNvPr>
          <p:cNvGraphicFramePr/>
          <p:nvPr>
            <p:extLst>
              <p:ext uri="{D42A27DB-BD31-4B8C-83A1-F6EECF244321}">
                <p14:modId xmlns:p14="http://schemas.microsoft.com/office/powerpoint/2010/main" val="531077962"/>
              </p:ext>
            </p:extLst>
          </p:nvPr>
        </p:nvGraphicFramePr>
        <p:xfrm>
          <a:off x="4817660" y="549274"/>
          <a:ext cx="6823479" cy="58035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12938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screenshot of a computer program&#10;&#10;AI-generated content may be incorrect.">
            <a:extLst>
              <a:ext uri="{FF2B5EF4-FFF2-40B4-BE49-F238E27FC236}">
                <a16:creationId xmlns:a16="http://schemas.microsoft.com/office/drawing/2014/main" id="{C002F5DC-5A71-A40E-7666-6D2A50D25BD2}"/>
              </a:ext>
            </a:extLst>
          </p:cNvPr>
          <p:cNvPicPr>
            <a:picLocks noChangeAspect="1"/>
          </p:cNvPicPr>
          <p:nvPr/>
        </p:nvPicPr>
        <p:blipFill>
          <a:blip r:embed="rId3"/>
          <a:stretch>
            <a:fillRect/>
          </a:stretch>
        </p:blipFill>
        <p:spPr>
          <a:xfrm>
            <a:off x="774845" y="1927829"/>
            <a:ext cx="5773738" cy="3002342"/>
          </a:xfrm>
          <a:custGeom>
            <a:avLst/>
            <a:gdLst/>
            <a:ahLst/>
            <a:cxnLst/>
            <a:rect l="l" t="t" r="r" b="b"/>
            <a:pathLst>
              <a:path w="5773738" h="3779838">
                <a:moveTo>
                  <a:pt x="0" y="0"/>
                </a:moveTo>
                <a:lnTo>
                  <a:pt x="5773738" y="0"/>
                </a:lnTo>
                <a:lnTo>
                  <a:pt x="5773738" y="3779838"/>
                </a:lnTo>
                <a:lnTo>
                  <a:pt x="0" y="3779838"/>
                </a:lnTo>
                <a:close/>
              </a:path>
            </a:pathLst>
          </a:custGeom>
        </p:spPr>
      </p:pic>
      <p:sp>
        <p:nvSpPr>
          <p:cNvPr id="3" name="TextBox 2">
            <a:extLst>
              <a:ext uri="{FF2B5EF4-FFF2-40B4-BE49-F238E27FC236}">
                <a16:creationId xmlns:a16="http://schemas.microsoft.com/office/drawing/2014/main" id="{3D48231A-2AF7-4EFD-3070-92B7E2DCF8ED}"/>
              </a:ext>
            </a:extLst>
          </p:cNvPr>
          <p:cNvSpPr txBox="1"/>
          <p:nvPr/>
        </p:nvSpPr>
        <p:spPr>
          <a:xfrm>
            <a:off x="7057652" y="1143000"/>
            <a:ext cx="4500562" cy="4572000"/>
          </a:xfrm>
          <a:prstGeom prst="rect">
            <a:avLst/>
          </a:prstGeom>
        </p:spPr>
        <p:txBody>
          <a:bodyPr vert="horz" wrap="square" lIns="0" tIns="0" rIns="0" bIns="0" rtlCol="0" anchor="t">
            <a:normAutofit/>
          </a:bodyPr>
          <a:lstStyle/>
          <a:p>
            <a:pPr>
              <a:lnSpc>
                <a:spcPct val="110000"/>
              </a:lnSpc>
              <a:spcAft>
                <a:spcPts val="800"/>
              </a:spcAft>
            </a:pPr>
            <a:r>
              <a:rPr lang="en-US" sz="2000" b="1" dirty="0">
                <a:solidFill>
                  <a:schemeClr val="tx1">
                    <a:alpha val="60000"/>
                  </a:schemeClr>
                </a:solidFill>
              </a:rPr>
              <a:t>Data Overview</a:t>
            </a:r>
          </a:p>
          <a:p>
            <a:pPr>
              <a:lnSpc>
                <a:spcPct val="110000"/>
              </a:lnSpc>
              <a:spcAft>
                <a:spcPts val="800"/>
              </a:spcAft>
            </a:pPr>
            <a:r>
              <a:rPr lang="en-US" sz="2000" b="1" dirty="0">
                <a:solidFill>
                  <a:schemeClr val="tx1">
                    <a:alpha val="60000"/>
                  </a:schemeClr>
                </a:solidFill>
              </a:rPr>
              <a:t>Dataset Description:</a:t>
            </a:r>
            <a:endParaRPr lang="en-US" sz="2000" dirty="0">
              <a:solidFill>
                <a:schemeClr val="tx1">
                  <a:alpha val="60000"/>
                </a:schemeClr>
              </a:solidFill>
            </a:endParaRPr>
          </a:p>
          <a:p>
            <a:pPr marL="742950" lvl="1" indent="-228600">
              <a:lnSpc>
                <a:spcPct val="110000"/>
              </a:lnSpc>
              <a:spcAft>
                <a:spcPts val="800"/>
              </a:spcAft>
              <a:buFont typeface="Arial" panose="020B0604020202020204" pitchFamily="34" charset="0"/>
              <a:buChar char="•"/>
            </a:pPr>
            <a:r>
              <a:rPr lang="en-US" sz="2000" dirty="0">
                <a:solidFill>
                  <a:schemeClr val="tx1">
                    <a:alpha val="60000"/>
                  </a:schemeClr>
                </a:solidFill>
              </a:rPr>
              <a:t>NYC Yellow Taxi data for January 2024 and January 2025 (CSV files).</a:t>
            </a:r>
            <a:endParaRPr lang="en-US" sz="2000" b="1" dirty="0">
              <a:solidFill>
                <a:schemeClr val="tx1">
                  <a:alpha val="60000"/>
                </a:schemeClr>
              </a:solidFill>
            </a:endParaRPr>
          </a:p>
          <a:p>
            <a:pPr>
              <a:lnSpc>
                <a:spcPct val="110000"/>
              </a:lnSpc>
              <a:spcAft>
                <a:spcPts val="800"/>
              </a:spcAft>
            </a:pPr>
            <a:r>
              <a:rPr lang="en-US" sz="2000" b="1" dirty="0">
                <a:solidFill>
                  <a:schemeClr val="tx1">
                    <a:alpha val="60000"/>
                  </a:schemeClr>
                </a:solidFill>
              </a:rPr>
              <a:t>Storage:</a:t>
            </a:r>
            <a:endParaRPr lang="en-US" sz="2000" dirty="0">
              <a:solidFill>
                <a:schemeClr val="tx1">
                  <a:alpha val="60000"/>
                </a:schemeClr>
              </a:solidFill>
            </a:endParaRPr>
          </a:p>
          <a:p>
            <a:pPr marL="742950" lvl="1" indent="-228600">
              <a:lnSpc>
                <a:spcPct val="110000"/>
              </a:lnSpc>
              <a:spcAft>
                <a:spcPts val="800"/>
              </a:spcAft>
              <a:buFont typeface="Arial" panose="020B0604020202020204" pitchFamily="34" charset="0"/>
              <a:buChar char="•"/>
            </a:pPr>
            <a:r>
              <a:rPr lang="en-US" sz="2000" dirty="0">
                <a:solidFill>
                  <a:schemeClr val="tx1">
                    <a:alpha val="60000"/>
                  </a:schemeClr>
                </a:solidFill>
              </a:rPr>
              <a:t>Loaded into Hadoop HDFS (organized by year in separate subdirectories).</a:t>
            </a:r>
          </a:p>
          <a:p>
            <a:pPr>
              <a:lnSpc>
                <a:spcPct val="110000"/>
              </a:lnSpc>
              <a:spcAft>
                <a:spcPts val="800"/>
              </a:spcAft>
            </a:pPr>
            <a:r>
              <a:rPr lang="en-US" sz="2100" b="1" dirty="0">
                <a:solidFill>
                  <a:schemeClr val="tx1">
                    <a:alpha val="60000"/>
                  </a:schemeClr>
                </a:solidFill>
              </a:rPr>
              <a:t>Dataset Location</a:t>
            </a:r>
          </a:p>
          <a:p>
            <a:pPr marL="742950" lvl="1" indent="-228600">
              <a:lnSpc>
                <a:spcPct val="110000"/>
              </a:lnSpc>
              <a:spcAft>
                <a:spcPts val="800"/>
              </a:spcAft>
              <a:buFont typeface="Arial" panose="020B0604020202020204" pitchFamily="34" charset="0"/>
              <a:buChar char="•"/>
            </a:pPr>
            <a:r>
              <a:rPr lang="en-US" sz="2000" dirty="0">
                <a:solidFill>
                  <a:schemeClr val="tx1">
                    <a:alpha val="60000"/>
                  </a:schemeClr>
                </a:solidFill>
              </a:rPr>
              <a:t>https://www.nyc.gov/site/tlc/about/tlc-trip-record-data.page</a:t>
            </a:r>
          </a:p>
          <a:p>
            <a:pPr>
              <a:lnSpc>
                <a:spcPct val="110000"/>
              </a:lnSpc>
              <a:spcAft>
                <a:spcPts val="800"/>
              </a:spcAft>
            </a:pPr>
            <a:endParaRPr lang="en-US" sz="3200" dirty="0">
              <a:solidFill>
                <a:schemeClr val="tx1">
                  <a:alpha val="60000"/>
                </a:schemeClr>
              </a:solidFill>
            </a:endParaRPr>
          </a:p>
        </p:txBody>
      </p:sp>
    </p:spTree>
    <p:extLst>
      <p:ext uri="{BB962C8B-B14F-4D97-AF65-F5344CB8AC3E}">
        <p14:creationId xmlns:p14="http://schemas.microsoft.com/office/powerpoint/2010/main" val="2448473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4AD500-A28F-4103-7EF2-8BDB5FAAAF09}"/>
              </a:ext>
            </a:extLst>
          </p:cNvPr>
          <p:cNvSpPr txBox="1"/>
          <p:nvPr/>
        </p:nvSpPr>
        <p:spPr>
          <a:xfrm>
            <a:off x="558696" y="982737"/>
            <a:ext cx="4402095" cy="5113263"/>
          </a:xfrm>
          <a:prstGeom prst="rect">
            <a:avLst/>
          </a:prstGeom>
        </p:spPr>
        <p:txBody>
          <a:bodyPr vert="horz" wrap="square" lIns="0" tIns="0" rIns="0" bIns="0" rtlCol="0" anchor="t">
            <a:noAutofit/>
          </a:bodyPr>
          <a:lstStyle/>
          <a:p>
            <a:pPr>
              <a:spcAft>
                <a:spcPts val="800"/>
              </a:spcAft>
            </a:pPr>
            <a:r>
              <a:rPr lang="en-US" b="1" dirty="0">
                <a:solidFill>
                  <a:schemeClr val="tx1">
                    <a:alpha val="60000"/>
                  </a:schemeClr>
                </a:solidFill>
              </a:rPr>
              <a:t>Methodology</a:t>
            </a:r>
            <a:endParaRPr lang="en-US" dirty="0">
              <a:solidFill>
                <a:schemeClr val="tx1">
                  <a:alpha val="60000"/>
                </a:schemeClr>
              </a:solidFill>
            </a:endParaRPr>
          </a:p>
          <a:p>
            <a:pPr indent="-228600">
              <a:spcAft>
                <a:spcPts val="800"/>
              </a:spcAft>
              <a:buFont typeface="Arial" panose="020B0604020202020204" pitchFamily="34" charset="0"/>
              <a:buChar char="•"/>
            </a:pPr>
            <a:endParaRPr lang="en-US" b="1" dirty="0">
              <a:solidFill>
                <a:schemeClr val="tx1">
                  <a:alpha val="60000"/>
                </a:schemeClr>
              </a:solidFill>
            </a:endParaRPr>
          </a:p>
          <a:p>
            <a:pPr>
              <a:spcAft>
                <a:spcPts val="800"/>
              </a:spcAft>
            </a:pPr>
            <a:r>
              <a:rPr lang="en-US" b="1" dirty="0">
                <a:solidFill>
                  <a:schemeClr val="tx1">
                    <a:alpha val="60000"/>
                  </a:schemeClr>
                </a:solidFill>
              </a:rPr>
              <a:t>Data Pipeline:</a:t>
            </a:r>
            <a:endParaRPr lang="en-US" dirty="0">
              <a:solidFill>
                <a:schemeClr val="tx1">
                  <a:alpha val="60000"/>
                </a:schemeClr>
              </a:solidFill>
            </a:endParaRPr>
          </a:p>
          <a:p>
            <a:pPr marL="742950" lvl="1" indent="-228600">
              <a:spcAft>
                <a:spcPts val="800"/>
              </a:spcAft>
              <a:buFont typeface="Arial" panose="020B0604020202020204" pitchFamily="34" charset="0"/>
              <a:buChar char="•"/>
            </a:pPr>
            <a:r>
              <a:rPr lang="en-US" b="1" dirty="0">
                <a:solidFill>
                  <a:schemeClr val="tx1">
                    <a:alpha val="60000"/>
                  </a:schemeClr>
                </a:solidFill>
              </a:rPr>
              <a:t>Step 1:</a:t>
            </a:r>
            <a:r>
              <a:rPr lang="en-US" dirty="0">
                <a:solidFill>
                  <a:schemeClr val="tx1">
                    <a:alpha val="60000"/>
                  </a:schemeClr>
                </a:solidFill>
              </a:rPr>
              <a:t> Data Ingestion into HDFS</a:t>
            </a:r>
          </a:p>
          <a:p>
            <a:pPr marL="742950" lvl="1" indent="-228600">
              <a:spcAft>
                <a:spcPts val="800"/>
              </a:spcAft>
              <a:buFont typeface="Arial" panose="020B0604020202020204" pitchFamily="34" charset="0"/>
              <a:buChar char="•"/>
            </a:pPr>
            <a:r>
              <a:rPr lang="en-US" b="1" dirty="0">
                <a:solidFill>
                  <a:schemeClr val="tx1">
                    <a:alpha val="60000"/>
                  </a:schemeClr>
                </a:solidFill>
              </a:rPr>
              <a:t>Step 2:</a:t>
            </a:r>
            <a:r>
              <a:rPr lang="en-US" dirty="0">
                <a:solidFill>
                  <a:schemeClr val="tx1">
                    <a:alpha val="60000"/>
                  </a:schemeClr>
                </a:solidFill>
              </a:rPr>
              <a:t> Creation of Hive External Tables (one per year)</a:t>
            </a:r>
          </a:p>
          <a:p>
            <a:pPr marL="742950" lvl="1" indent="-228600">
              <a:spcAft>
                <a:spcPts val="800"/>
              </a:spcAft>
              <a:buFont typeface="Arial" panose="020B0604020202020204" pitchFamily="34" charset="0"/>
              <a:buChar char="•"/>
            </a:pPr>
            <a:r>
              <a:rPr lang="en-US" b="1" dirty="0">
                <a:solidFill>
                  <a:schemeClr val="tx1">
                    <a:alpha val="60000"/>
                  </a:schemeClr>
                </a:solidFill>
              </a:rPr>
              <a:t>Step 3:</a:t>
            </a:r>
            <a:r>
              <a:rPr lang="en-US" dirty="0">
                <a:solidFill>
                  <a:schemeClr val="tx1">
                    <a:alpha val="60000"/>
                  </a:schemeClr>
                </a:solidFill>
              </a:rPr>
              <a:t> Execution of Hive SQL queries to answer business questions</a:t>
            </a:r>
          </a:p>
          <a:p>
            <a:pPr marL="742950" lvl="1" indent="-228600">
              <a:spcAft>
                <a:spcPts val="800"/>
              </a:spcAft>
              <a:buFont typeface="Arial" panose="020B0604020202020204" pitchFamily="34" charset="0"/>
              <a:buChar char="•"/>
            </a:pPr>
            <a:r>
              <a:rPr lang="en-US" b="1" dirty="0">
                <a:solidFill>
                  <a:schemeClr val="tx1">
                    <a:alpha val="60000"/>
                  </a:schemeClr>
                </a:solidFill>
              </a:rPr>
              <a:t>Step 4:</a:t>
            </a:r>
            <a:r>
              <a:rPr lang="en-US" dirty="0">
                <a:solidFill>
                  <a:schemeClr val="tx1">
                    <a:alpha val="60000"/>
                  </a:schemeClr>
                </a:solidFill>
              </a:rPr>
              <a:t> Visualization and interpretation of query results</a:t>
            </a:r>
          </a:p>
          <a:p>
            <a:pPr indent="-228600">
              <a:spcAft>
                <a:spcPts val="800"/>
              </a:spcAft>
              <a:buFont typeface="Arial" panose="020B0604020202020204" pitchFamily="34" charset="0"/>
              <a:buChar char="•"/>
            </a:pPr>
            <a:endParaRPr lang="en-US" b="1" dirty="0">
              <a:solidFill>
                <a:schemeClr val="tx1">
                  <a:alpha val="60000"/>
                </a:schemeClr>
              </a:solidFill>
            </a:endParaRPr>
          </a:p>
          <a:p>
            <a:pPr>
              <a:spcAft>
                <a:spcPts val="800"/>
              </a:spcAft>
            </a:pPr>
            <a:r>
              <a:rPr lang="en-US" b="1" dirty="0">
                <a:solidFill>
                  <a:schemeClr val="tx1">
                    <a:alpha val="60000"/>
                  </a:schemeClr>
                </a:solidFill>
              </a:rPr>
              <a:t>High-Level Flow:</a:t>
            </a:r>
            <a:endParaRPr lang="en-US" dirty="0">
              <a:solidFill>
                <a:schemeClr val="tx1">
                  <a:alpha val="60000"/>
                </a:schemeClr>
              </a:solidFill>
            </a:endParaRPr>
          </a:p>
          <a:p>
            <a:pPr marL="742950" lvl="1" indent="-228600">
              <a:spcAft>
                <a:spcPts val="800"/>
              </a:spcAft>
              <a:buFont typeface="Arial" panose="020B0604020202020204" pitchFamily="34" charset="0"/>
              <a:buChar char="•"/>
            </a:pPr>
            <a:r>
              <a:rPr lang="en-US" dirty="0">
                <a:solidFill>
                  <a:schemeClr val="tx1">
                    <a:alpha val="60000"/>
                  </a:schemeClr>
                </a:solidFill>
              </a:rPr>
              <a:t>Data → HDFS → Hive → Query Results → Visualization</a:t>
            </a:r>
          </a:p>
          <a:p>
            <a:pPr indent="-228600">
              <a:spcAft>
                <a:spcPts val="800"/>
              </a:spcAft>
              <a:buFont typeface="Arial" panose="020B0604020202020204" pitchFamily="34" charset="0"/>
              <a:buChar char="•"/>
            </a:pPr>
            <a:endParaRPr lang="en-US" dirty="0">
              <a:solidFill>
                <a:schemeClr val="tx1">
                  <a:alpha val="60000"/>
                </a:schemeClr>
              </a:solidFill>
            </a:endParaRPr>
          </a:p>
        </p:txBody>
      </p:sp>
      <p:pic>
        <p:nvPicPr>
          <p:cNvPr id="4" name="Picture 3">
            <a:extLst>
              <a:ext uri="{FF2B5EF4-FFF2-40B4-BE49-F238E27FC236}">
                <a16:creationId xmlns:a16="http://schemas.microsoft.com/office/drawing/2014/main" id="{8DC693D1-28A0-4302-0806-E7BCB0C093D7}"/>
              </a:ext>
            </a:extLst>
          </p:cNvPr>
          <p:cNvPicPr>
            <a:picLocks noChangeAspect="1"/>
          </p:cNvPicPr>
          <p:nvPr/>
        </p:nvPicPr>
        <p:blipFill>
          <a:blip r:embed="rId3"/>
          <a:srcRect r="19103"/>
          <a:stretch/>
        </p:blipFill>
        <p:spPr>
          <a:xfrm>
            <a:off x="5506639" y="1185232"/>
            <a:ext cx="5566476" cy="4266163"/>
          </a:xfrm>
          <a:custGeom>
            <a:avLst/>
            <a:gdLst/>
            <a:ahLst/>
            <a:cxnLst/>
            <a:rect l="l" t="t" r="r" b="b"/>
            <a:pathLst>
              <a:path w="7090237" h="5759451">
                <a:moveTo>
                  <a:pt x="0" y="0"/>
                </a:moveTo>
                <a:lnTo>
                  <a:pt x="7090237" y="0"/>
                </a:lnTo>
                <a:lnTo>
                  <a:pt x="7090237" y="5759451"/>
                </a:lnTo>
                <a:lnTo>
                  <a:pt x="0" y="5759451"/>
                </a:lnTo>
                <a:close/>
              </a:path>
            </a:pathLst>
          </a:custGeom>
        </p:spPr>
      </p:pic>
    </p:spTree>
    <p:extLst>
      <p:ext uri="{BB962C8B-B14F-4D97-AF65-F5344CB8AC3E}">
        <p14:creationId xmlns:p14="http://schemas.microsoft.com/office/powerpoint/2010/main" val="3369027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5648F4-CDC0-7063-29BF-8FF3A1893E2B}"/>
              </a:ext>
            </a:extLst>
          </p:cNvPr>
          <p:cNvSpPr txBox="1"/>
          <p:nvPr/>
        </p:nvSpPr>
        <p:spPr>
          <a:xfrm>
            <a:off x="550863" y="521058"/>
            <a:ext cx="3565525" cy="4801501"/>
          </a:xfrm>
          <a:prstGeom prst="rect">
            <a:avLst/>
          </a:prstGeom>
        </p:spPr>
        <p:txBody>
          <a:bodyPr vert="horz" wrap="square" lIns="0" tIns="0" rIns="0" bIns="0" rtlCol="0" anchor="t">
            <a:noAutofit/>
          </a:bodyPr>
          <a:lstStyle/>
          <a:p>
            <a:pPr>
              <a:spcAft>
                <a:spcPts val="800"/>
              </a:spcAft>
            </a:pPr>
            <a:r>
              <a:rPr lang="en-US" b="1" dirty="0">
                <a:solidFill>
                  <a:schemeClr val="tx1">
                    <a:alpha val="60000"/>
                  </a:schemeClr>
                </a:solidFill>
              </a:rPr>
              <a:t>Problem 1: </a:t>
            </a:r>
            <a:r>
              <a:rPr lang="en-US" dirty="0">
                <a:solidFill>
                  <a:schemeClr val="tx1">
                    <a:alpha val="60000"/>
                  </a:schemeClr>
                </a:solidFill>
                <a:effectLst/>
              </a:rPr>
              <a:t>How do daily trip volumes compare between January 2024 and January 2025?</a:t>
            </a:r>
          </a:p>
          <a:p>
            <a:pPr indent="-228600">
              <a:spcAft>
                <a:spcPts val="800"/>
              </a:spcAft>
              <a:buFont typeface="Arial" panose="020B0604020202020204" pitchFamily="34" charset="0"/>
              <a:buChar char="•"/>
            </a:pPr>
            <a:endParaRPr lang="en-US" dirty="0">
              <a:solidFill>
                <a:schemeClr val="tx1">
                  <a:alpha val="60000"/>
                </a:schemeClr>
              </a:solidFill>
              <a:effectLst/>
            </a:endParaRPr>
          </a:p>
          <a:p>
            <a:pPr>
              <a:spcAft>
                <a:spcPts val="800"/>
              </a:spcAft>
            </a:pPr>
            <a:r>
              <a:rPr lang="en-US" b="1" dirty="0">
                <a:solidFill>
                  <a:schemeClr val="tx1">
                    <a:alpha val="60000"/>
                  </a:schemeClr>
                </a:solidFill>
              </a:rPr>
              <a:t>Observed Results:</a:t>
            </a:r>
            <a:endParaRPr lang="en-US" dirty="0">
              <a:solidFill>
                <a:schemeClr val="tx1">
                  <a:alpha val="60000"/>
                </a:schemeClr>
              </a:solidFill>
            </a:endParaRPr>
          </a:p>
          <a:p>
            <a:pPr indent="-228600">
              <a:spcAft>
                <a:spcPts val="800"/>
              </a:spcAft>
              <a:buFont typeface="Arial" panose="020B0604020202020204" pitchFamily="34" charset="0"/>
              <a:buChar char="•"/>
            </a:pPr>
            <a:r>
              <a:rPr lang="en-US" dirty="0">
                <a:solidFill>
                  <a:schemeClr val="tx1">
                    <a:alpha val="60000"/>
                  </a:schemeClr>
                </a:solidFill>
              </a:rPr>
              <a:t>The daily trip counts mostly fall within the range of around 80,000 to 110,000 trips for the bulk of January, though there are a few entries with extremely low counts (e.g., early dates like “2002-12-31”, “2009-01-01”, “2023-12-31”, and “2024-02-01”) which appear to be outliers or artifacts.</a:t>
            </a:r>
          </a:p>
          <a:p>
            <a:pPr indent="-228600">
              <a:spcAft>
                <a:spcPts val="800"/>
              </a:spcAft>
              <a:buFont typeface="Arial" panose="020B0604020202020204" pitchFamily="34" charset="0"/>
              <a:buChar char="•"/>
            </a:pPr>
            <a:r>
              <a:rPr lang="en-US" dirty="0">
                <a:solidFill>
                  <a:schemeClr val="tx1">
                    <a:alpha val="60000"/>
                  </a:schemeClr>
                </a:solidFill>
              </a:rPr>
              <a:t>When comparing January 2024 with January 2025, the volumes are more in magnitude with some days in one year higher than the other. Cumulatively 2025 are greater than 2024.</a:t>
            </a:r>
          </a:p>
        </p:txBody>
      </p:sp>
      <p:pic>
        <p:nvPicPr>
          <p:cNvPr id="7" name="Picture 6" descr="A screenshot of a computer screen&#10;&#10;AI-generated content may be incorrect.">
            <a:extLst>
              <a:ext uri="{FF2B5EF4-FFF2-40B4-BE49-F238E27FC236}">
                <a16:creationId xmlns:a16="http://schemas.microsoft.com/office/drawing/2014/main" id="{C62B9655-BF95-6B38-3672-F33507F19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0900" y="1434872"/>
            <a:ext cx="7090237" cy="3988257"/>
          </a:xfrm>
          <a:custGeom>
            <a:avLst/>
            <a:gdLst/>
            <a:ahLst/>
            <a:cxnLst/>
            <a:rect l="l" t="t" r="r" b="b"/>
            <a:pathLst>
              <a:path w="7090237" h="5759451">
                <a:moveTo>
                  <a:pt x="0" y="0"/>
                </a:moveTo>
                <a:lnTo>
                  <a:pt x="7090237" y="0"/>
                </a:lnTo>
                <a:lnTo>
                  <a:pt x="7090237" y="5759451"/>
                </a:lnTo>
                <a:lnTo>
                  <a:pt x="0" y="5759451"/>
                </a:lnTo>
                <a:close/>
              </a:path>
            </a:pathLst>
          </a:custGeom>
        </p:spPr>
      </p:pic>
    </p:spTree>
    <p:extLst>
      <p:ext uri="{BB962C8B-B14F-4D97-AF65-F5344CB8AC3E}">
        <p14:creationId xmlns:p14="http://schemas.microsoft.com/office/powerpoint/2010/main" val="794191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7F32A0E-05A0-47B4-AA1E-84704ACC6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A731EC3-9556-4509-8379-DDBE0D4EB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68D04705-CDFF-4E16-4827-13ABCB6B4FF8}"/>
              </a:ext>
            </a:extLst>
          </p:cNvPr>
          <p:cNvPicPr>
            <a:picLocks noChangeAspect="1"/>
          </p:cNvPicPr>
          <p:nvPr/>
        </p:nvPicPr>
        <p:blipFill>
          <a:blip r:embed="rId2"/>
          <a:stretch>
            <a:fillRect/>
          </a:stretch>
        </p:blipFill>
        <p:spPr>
          <a:xfrm>
            <a:off x="1888003" y="643467"/>
            <a:ext cx="2883027" cy="5571066"/>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0CFE225-5248-9D51-7C57-981A9A3A8674}"/>
              </a:ext>
            </a:extLst>
          </p:cNvPr>
          <p:cNvPicPr>
            <a:picLocks noChangeAspect="1"/>
          </p:cNvPicPr>
          <p:nvPr/>
        </p:nvPicPr>
        <p:blipFill>
          <a:blip r:embed="rId3"/>
          <a:stretch>
            <a:fillRect/>
          </a:stretch>
        </p:blipFill>
        <p:spPr>
          <a:xfrm>
            <a:off x="7420969" y="643467"/>
            <a:ext cx="2883027" cy="5571066"/>
          </a:xfrm>
          <a:prstGeom prst="rect">
            <a:avLst/>
          </a:prstGeom>
        </p:spPr>
      </p:pic>
    </p:spTree>
    <p:extLst>
      <p:ext uri="{BB962C8B-B14F-4D97-AF65-F5344CB8AC3E}">
        <p14:creationId xmlns:p14="http://schemas.microsoft.com/office/powerpoint/2010/main" val="2325225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8" name="Picture 7" descr="A graph with blue lines&#10;&#10;AI-generated content may be incorrect.">
            <a:extLst>
              <a:ext uri="{FF2B5EF4-FFF2-40B4-BE49-F238E27FC236}">
                <a16:creationId xmlns:a16="http://schemas.microsoft.com/office/drawing/2014/main" id="{B1511845-B848-696F-1E51-7C4E255EF1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716" y="1964241"/>
            <a:ext cx="5159675" cy="2192861"/>
          </a:xfrm>
          <a:prstGeom prst="rect">
            <a:avLst/>
          </a:prstGeom>
          <a:effectLst>
            <a:outerShdw blurRad="50800" dist="38100" dir="2700000" algn="tl" rotWithShape="0">
              <a:prstClr val="black">
                <a:alpha val="40000"/>
              </a:prstClr>
            </a:outerShdw>
          </a:effectLst>
        </p:spPr>
      </p:pic>
      <p:pic>
        <p:nvPicPr>
          <p:cNvPr id="6" name="Picture 5" descr="A green line graph with numbers and a line&#10;&#10;AI-generated content may be incorrect.">
            <a:extLst>
              <a:ext uri="{FF2B5EF4-FFF2-40B4-BE49-F238E27FC236}">
                <a16:creationId xmlns:a16="http://schemas.microsoft.com/office/drawing/2014/main" id="{AA9CE5A2-25B3-BC9A-E9BF-B7177EC327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8857" y="1964241"/>
            <a:ext cx="5159676" cy="219286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96646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FAB2FCE0-4327-9A8E-9DF4-80B9BC4D47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64" y="1467596"/>
            <a:ext cx="6973882" cy="3922808"/>
          </a:xfrm>
          <a:custGeom>
            <a:avLst/>
            <a:gdLst/>
            <a:ahLst/>
            <a:cxnLst/>
            <a:rect l="l" t="t" r="r" b="b"/>
            <a:pathLst>
              <a:path w="6973882" h="5759451">
                <a:moveTo>
                  <a:pt x="0" y="0"/>
                </a:moveTo>
                <a:lnTo>
                  <a:pt x="6973882" y="0"/>
                </a:lnTo>
                <a:lnTo>
                  <a:pt x="6973882" y="5759451"/>
                </a:lnTo>
                <a:lnTo>
                  <a:pt x="0" y="5759451"/>
                </a:lnTo>
                <a:close/>
              </a:path>
            </a:pathLst>
          </a:custGeom>
        </p:spPr>
      </p:pic>
      <p:sp>
        <p:nvSpPr>
          <p:cNvPr id="2" name="TextBox 1">
            <a:extLst>
              <a:ext uri="{FF2B5EF4-FFF2-40B4-BE49-F238E27FC236}">
                <a16:creationId xmlns:a16="http://schemas.microsoft.com/office/drawing/2014/main" id="{D9B97317-7893-B030-E0EF-3D8BE8ECBA46}"/>
              </a:ext>
            </a:extLst>
          </p:cNvPr>
          <p:cNvSpPr txBox="1"/>
          <p:nvPr/>
        </p:nvSpPr>
        <p:spPr>
          <a:xfrm>
            <a:off x="8075611" y="2067636"/>
            <a:ext cx="3565525" cy="4025190"/>
          </a:xfrm>
          <a:prstGeom prst="rect">
            <a:avLst/>
          </a:prstGeom>
        </p:spPr>
        <p:txBody>
          <a:bodyPr vert="horz" wrap="square" lIns="0" tIns="0" rIns="0" bIns="0" rtlCol="0" anchor="t">
            <a:normAutofit/>
          </a:bodyPr>
          <a:lstStyle/>
          <a:p>
            <a:pPr>
              <a:spcAft>
                <a:spcPts val="800"/>
              </a:spcAft>
            </a:pPr>
            <a:r>
              <a:rPr lang="en-US" b="1" dirty="0">
                <a:solidFill>
                  <a:schemeClr val="tx1">
                    <a:alpha val="60000"/>
                  </a:schemeClr>
                </a:solidFill>
                <a:effectLst/>
              </a:rPr>
              <a:t>Problem 2:</a:t>
            </a:r>
            <a:r>
              <a:rPr lang="en-US" dirty="0">
                <a:solidFill>
                  <a:schemeClr val="tx1">
                    <a:alpha val="60000"/>
                  </a:schemeClr>
                </a:solidFill>
                <a:effectLst/>
              </a:rPr>
              <a:t> Which pickup locations (</a:t>
            </a:r>
            <a:r>
              <a:rPr lang="en-US" dirty="0" err="1">
                <a:solidFill>
                  <a:schemeClr val="tx1">
                    <a:alpha val="60000"/>
                  </a:schemeClr>
                </a:solidFill>
                <a:effectLst/>
              </a:rPr>
              <a:t>PULocationID</a:t>
            </a:r>
            <a:r>
              <a:rPr lang="en-US" dirty="0">
                <a:solidFill>
                  <a:schemeClr val="tx1">
                    <a:alpha val="60000"/>
                  </a:schemeClr>
                </a:solidFill>
                <a:effectLst/>
              </a:rPr>
              <a:t>) have the highest trip counts, and do these change from 2024 to 2025?</a:t>
            </a:r>
          </a:p>
          <a:p>
            <a:pPr indent="-228600">
              <a:spcAft>
                <a:spcPts val="800"/>
              </a:spcAft>
              <a:buFont typeface="Arial" panose="020B0604020202020204" pitchFamily="34" charset="0"/>
              <a:buChar char="•"/>
            </a:pPr>
            <a:endParaRPr lang="en-US" dirty="0">
              <a:solidFill>
                <a:schemeClr val="tx1">
                  <a:alpha val="60000"/>
                </a:schemeClr>
              </a:solidFill>
            </a:endParaRPr>
          </a:p>
          <a:p>
            <a:pPr>
              <a:spcAft>
                <a:spcPts val="800"/>
              </a:spcAft>
            </a:pPr>
            <a:r>
              <a:rPr lang="en-US" b="1" dirty="0">
                <a:solidFill>
                  <a:schemeClr val="tx1">
                    <a:alpha val="60000"/>
                  </a:schemeClr>
                </a:solidFill>
              </a:rPr>
              <a:t>Observed Results:</a:t>
            </a:r>
            <a:endParaRPr lang="en-US" dirty="0">
              <a:solidFill>
                <a:schemeClr val="tx1">
                  <a:alpha val="60000"/>
                </a:schemeClr>
              </a:solidFill>
            </a:endParaRPr>
          </a:p>
          <a:p>
            <a:pPr indent="-228600">
              <a:spcAft>
                <a:spcPts val="800"/>
              </a:spcAft>
              <a:buFont typeface="Arial" panose="020B0604020202020204" pitchFamily="34" charset="0"/>
              <a:buChar char="•"/>
            </a:pPr>
            <a:r>
              <a:rPr lang="en-US" dirty="0">
                <a:solidFill>
                  <a:schemeClr val="tx1">
                    <a:alpha val="60000"/>
                  </a:schemeClr>
                </a:solidFill>
              </a:rPr>
              <a:t>The results list pickup location IDs (</a:t>
            </a:r>
            <a:r>
              <a:rPr lang="en-US" dirty="0" err="1">
                <a:solidFill>
                  <a:schemeClr val="tx1">
                    <a:alpha val="60000"/>
                  </a:schemeClr>
                </a:solidFill>
              </a:rPr>
              <a:t>PULocationID</a:t>
            </a:r>
            <a:r>
              <a:rPr lang="en-US" dirty="0">
                <a:solidFill>
                  <a:schemeClr val="tx1">
                    <a:alpha val="60000"/>
                  </a:schemeClr>
                </a:solidFill>
              </a:rPr>
              <a:t>) with their corresponding trip counts. Certain location IDs (for example, 161, 237, 236) show particularly high trip counts, indicating that these are major demand hubs.</a:t>
            </a:r>
          </a:p>
          <a:p>
            <a:pPr indent="-228600">
              <a:spcAft>
                <a:spcPts val="800"/>
              </a:spcAft>
              <a:buFont typeface="Arial" panose="020B0604020202020204" pitchFamily="34" charset="0"/>
              <a:buChar char="•"/>
            </a:pPr>
            <a:endParaRPr lang="en-US" dirty="0">
              <a:solidFill>
                <a:schemeClr val="tx1">
                  <a:alpha val="60000"/>
                </a:schemeClr>
              </a:solidFill>
            </a:endParaRPr>
          </a:p>
        </p:txBody>
      </p:sp>
    </p:spTree>
    <p:extLst>
      <p:ext uri="{BB962C8B-B14F-4D97-AF65-F5344CB8AC3E}">
        <p14:creationId xmlns:p14="http://schemas.microsoft.com/office/powerpoint/2010/main" val="3911138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1176DA6-4BBF-42A4-9C94-E6613CCD6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9AAB0AE-172B-4FB4-80C2-86CD6B824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w="22225">
            <a:solidFill>
              <a:srgbClr val="81C9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of blue bars&#10;&#10;AI-generated content may be incorrect.">
            <a:extLst>
              <a:ext uri="{FF2B5EF4-FFF2-40B4-BE49-F238E27FC236}">
                <a16:creationId xmlns:a16="http://schemas.microsoft.com/office/drawing/2014/main" id="{153F4BF7-028D-00A9-CE04-D2DEC7475B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111673"/>
            <a:ext cx="10905066" cy="4634653"/>
          </a:xfrm>
          <a:prstGeom prst="rect">
            <a:avLst/>
          </a:prstGeom>
        </p:spPr>
      </p:pic>
    </p:spTree>
    <p:extLst>
      <p:ext uri="{BB962C8B-B14F-4D97-AF65-F5344CB8AC3E}">
        <p14:creationId xmlns:p14="http://schemas.microsoft.com/office/powerpoint/2010/main" val="3193026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C0B6F8-1F3F-D3D2-8E24-504151750F19}"/>
              </a:ext>
            </a:extLst>
          </p:cNvPr>
          <p:cNvSpPr txBox="1"/>
          <p:nvPr/>
        </p:nvSpPr>
        <p:spPr>
          <a:xfrm>
            <a:off x="2682616" y="796515"/>
            <a:ext cx="1236621" cy="369332"/>
          </a:xfrm>
          <a:prstGeom prst="rect">
            <a:avLst/>
          </a:prstGeom>
          <a:noFill/>
        </p:spPr>
        <p:txBody>
          <a:bodyPr wrap="none" rtlCol="0">
            <a:spAutoFit/>
          </a:bodyPr>
          <a:lstStyle/>
          <a:p>
            <a:r>
              <a:rPr lang="en-US" dirty="0"/>
              <a:t>Year 2024</a:t>
            </a:r>
          </a:p>
        </p:txBody>
      </p:sp>
      <p:pic>
        <p:nvPicPr>
          <p:cNvPr id="4" name="Picture 3">
            <a:extLst>
              <a:ext uri="{FF2B5EF4-FFF2-40B4-BE49-F238E27FC236}">
                <a16:creationId xmlns:a16="http://schemas.microsoft.com/office/drawing/2014/main" id="{2377B329-DFDA-DB81-24C0-6858FCEAB8EB}"/>
              </a:ext>
            </a:extLst>
          </p:cNvPr>
          <p:cNvPicPr>
            <a:picLocks noChangeAspect="1"/>
          </p:cNvPicPr>
          <p:nvPr/>
        </p:nvPicPr>
        <p:blipFill>
          <a:blip r:embed="rId2"/>
          <a:stretch>
            <a:fillRect/>
          </a:stretch>
        </p:blipFill>
        <p:spPr>
          <a:xfrm>
            <a:off x="2029855" y="1234232"/>
            <a:ext cx="2542145" cy="5278956"/>
          </a:xfrm>
          <a:prstGeom prst="rect">
            <a:avLst/>
          </a:prstGeom>
        </p:spPr>
      </p:pic>
      <p:sp>
        <p:nvSpPr>
          <p:cNvPr id="5" name="TextBox 4">
            <a:extLst>
              <a:ext uri="{FF2B5EF4-FFF2-40B4-BE49-F238E27FC236}">
                <a16:creationId xmlns:a16="http://schemas.microsoft.com/office/drawing/2014/main" id="{E4F7B319-026D-0D01-D146-8B1B99D9751A}"/>
              </a:ext>
            </a:extLst>
          </p:cNvPr>
          <p:cNvSpPr txBox="1"/>
          <p:nvPr/>
        </p:nvSpPr>
        <p:spPr>
          <a:xfrm>
            <a:off x="7603133" y="796515"/>
            <a:ext cx="1236621" cy="369332"/>
          </a:xfrm>
          <a:prstGeom prst="rect">
            <a:avLst/>
          </a:prstGeom>
          <a:noFill/>
        </p:spPr>
        <p:txBody>
          <a:bodyPr wrap="none" rtlCol="0">
            <a:spAutoFit/>
          </a:bodyPr>
          <a:lstStyle/>
          <a:p>
            <a:r>
              <a:rPr lang="en-US" dirty="0"/>
              <a:t>Year 2025</a:t>
            </a:r>
          </a:p>
        </p:txBody>
      </p:sp>
      <p:pic>
        <p:nvPicPr>
          <p:cNvPr id="7" name="Picture 6">
            <a:extLst>
              <a:ext uri="{FF2B5EF4-FFF2-40B4-BE49-F238E27FC236}">
                <a16:creationId xmlns:a16="http://schemas.microsoft.com/office/drawing/2014/main" id="{E49F3A95-4A9B-0074-AAAF-75AD4D26FC16}"/>
              </a:ext>
            </a:extLst>
          </p:cNvPr>
          <p:cNvPicPr>
            <a:picLocks noChangeAspect="1"/>
          </p:cNvPicPr>
          <p:nvPr/>
        </p:nvPicPr>
        <p:blipFill>
          <a:blip r:embed="rId3"/>
          <a:stretch>
            <a:fillRect/>
          </a:stretch>
        </p:blipFill>
        <p:spPr>
          <a:xfrm>
            <a:off x="7032758" y="1234232"/>
            <a:ext cx="2377373" cy="5140161"/>
          </a:xfrm>
          <a:prstGeom prst="rect">
            <a:avLst/>
          </a:prstGeom>
        </p:spPr>
      </p:pic>
    </p:spTree>
    <p:extLst>
      <p:ext uri="{BB962C8B-B14F-4D97-AF65-F5344CB8AC3E}">
        <p14:creationId xmlns:p14="http://schemas.microsoft.com/office/powerpoint/2010/main" val="1649051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08F64DA0-FC78-96A0-4CE1-2FB5C2235B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403" y="1587425"/>
            <a:ext cx="5092062" cy="2864284"/>
          </a:xfrm>
          <a:custGeom>
            <a:avLst/>
            <a:gdLst/>
            <a:ahLst/>
            <a:cxnLst/>
            <a:rect l="l" t="t" r="r" b="b"/>
            <a:pathLst>
              <a:path w="5092062" h="5759450">
                <a:moveTo>
                  <a:pt x="0" y="0"/>
                </a:moveTo>
                <a:lnTo>
                  <a:pt x="5092062" y="0"/>
                </a:lnTo>
                <a:lnTo>
                  <a:pt x="5092062" y="5759450"/>
                </a:lnTo>
                <a:lnTo>
                  <a:pt x="0" y="5759450"/>
                </a:lnTo>
                <a:close/>
              </a:path>
            </a:pathLst>
          </a:custGeom>
        </p:spPr>
      </p:pic>
      <p:sp>
        <p:nvSpPr>
          <p:cNvPr id="2" name="TextBox 1">
            <a:extLst>
              <a:ext uri="{FF2B5EF4-FFF2-40B4-BE49-F238E27FC236}">
                <a16:creationId xmlns:a16="http://schemas.microsoft.com/office/drawing/2014/main" id="{2F675BCA-F0C1-A1FE-1E02-F339AE94FDD8}"/>
              </a:ext>
            </a:extLst>
          </p:cNvPr>
          <p:cNvSpPr txBox="1"/>
          <p:nvPr/>
        </p:nvSpPr>
        <p:spPr>
          <a:xfrm>
            <a:off x="6201410" y="2361062"/>
            <a:ext cx="5437187" cy="3731763"/>
          </a:xfrm>
          <a:prstGeom prst="rect">
            <a:avLst/>
          </a:prstGeom>
        </p:spPr>
        <p:txBody>
          <a:bodyPr vert="horz" wrap="square" lIns="0" tIns="0" rIns="0" bIns="0" rtlCol="0" anchor="t">
            <a:normAutofit/>
          </a:bodyPr>
          <a:lstStyle/>
          <a:p>
            <a:pPr>
              <a:spcAft>
                <a:spcPts val="800"/>
              </a:spcAft>
            </a:pPr>
            <a:r>
              <a:rPr lang="en-US" sz="1600" b="1" dirty="0">
                <a:solidFill>
                  <a:schemeClr val="tx1">
                    <a:alpha val="60000"/>
                  </a:schemeClr>
                </a:solidFill>
                <a:effectLst/>
              </a:rPr>
              <a:t>Problem 3:</a:t>
            </a:r>
            <a:r>
              <a:rPr lang="en-US" sz="1600" dirty="0">
                <a:solidFill>
                  <a:schemeClr val="tx1">
                    <a:alpha val="60000"/>
                  </a:schemeClr>
                </a:solidFill>
                <a:effectLst/>
              </a:rPr>
              <a:t> How do average fares per day vary between January 2024 and January 2025?</a:t>
            </a:r>
          </a:p>
          <a:p>
            <a:pPr indent="-228600">
              <a:spcAft>
                <a:spcPts val="800"/>
              </a:spcAft>
              <a:buFont typeface="Arial" panose="020B0604020202020204" pitchFamily="34" charset="0"/>
              <a:buChar char="•"/>
            </a:pPr>
            <a:endParaRPr lang="en-US" sz="1600" b="1" dirty="0">
              <a:solidFill>
                <a:schemeClr val="tx1">
                  <a:alpha val="60000"/>
                </a:schemeClr>
              </a:solidFill>
            </a:endParaRPr>
          </a:p>
          <a:p>
            <a:pPr>
              <a:spcAft>
                <a:spcPts val="800"/>
              </a:spcAft>
            </a:pPr>
            <a:r>
              <a:rPr lang="en-US" sz="1600" b="1" dirty="0">
                <a:solidFill>
                  <a:schemeClr val="tx1">
                    <a:alpha val="60000"/>
                  </a:schemeClr>
                </a:solidFill>
              </a:rPr>
              <a:t>Observed Results:</a:t>
            </a:r>
            <a:endParaRPr lang="en-US" sz="1600" dirty="0">
              <a:solidFill>
                <a:schemeClr val="tx1">
                  <a:alpha val="60000"/>
                </a:schemeClr>
              </a:solidFill>
            </a:endParaRPr>
          </a:p>
          <a:p>
            <a:pPr indent="-228600">
              <a:spcAft>
                <a:spcPts val="800"/>
              </a:spcAft>
              <a:buFont typeface="Arial" panose="020B0604020202020204" pitchFamily="34" charset="0"/>
              <a:buChar char="•"/>
            </a:pPr>
            <a:r>
              <a:rPr lang="en-US" sz="1600" dirty="0">
                <a:solidFill>
                  <a:schemeClr val="tx1">
                    <a:alpha val="60000"/>
                  </a:schemeClr>
                </a:solidFill>
              </a:rPr>
              <a:t> The daily average fares tend to hover around the mid to high teens in US dollars, with most days falling in the 16–19 USD range. However, there are occasional spikes (e.g., a value of 33.33 USD on one day) and very low values (such as 0 or 6.5 USD), which might be outliers.</a:t>
            </a:r>
          </a:p>
          <a:p>
            <a:pPr indent="-228600">
              <a:spcAft>
                <a:spcPts val="800"/>
              </a:spcAft>
              <a:buFont typeface="Arial" panose="020B0604020202020204" pitchFamily="34" charset="0"/>
              <a:buChar char="•"/>
            </a:pPr>
            <a:r>
              <a:rPr lang="en-US" sz="1600" dirty="0">
                <a:solidFill>
                  <a:schemeClr val="tx1">
                    <a:alpha val="60000"/>
                  </a:schemeClr>
                </a:solidFill>
              </a:rPr>
              <a:t> Later in the analysis we found that those 2 spikes in the year 2025 are special days which is New Year and Dr. Martin Luther King Jr Day. Every special days there could be a rise the prices.</a:t>
            </a:r>
          </a:p>
        </p:txBody>
      </p:sp>
    </p:spTree>
    <p:extLst>
      <p:ext uri="{BB962C8B-B14F-4D97-AF65-F5344CB8AC3E}">
        <p14:creationId xmlns:p14="http://schemas.microsoft.com/office/powerpoint/2010/main" val="2605532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91550C-9B33-6E47-3C7C-AE6F06A5C9B5}"/>
              </a:ext>
            </a:extLst>
          </p:cNvPr>
          <p:cNvPicPr>
            <a:picLocks noChangeAspect="1"/>
          </p:cNvPicPr>
          <p:nvPr/>
        </p:nvPicPr>
        <p:blipFill>
          <a:blip r:embed="rId2"/>
          <a:stretch>
            <a:fillRect/>
          </a:stretch>
        </p:blipFill>
        <p:spPr>
          <a:xfrm>
            <a:off x="2255431" y="1428958"/>
            <a:ext cx="3114603" cy="758686"/>
          </a:xfrm>
          <a:prstGeom prst="rect">
            <a:avLst/>
          </a:prstGeom>
        </p:spPr>
      </p:pic>
      <p:pic>
        <p:nvPicPr>
          <p:cNvPr id="5" name="Picture 4">
            <a:extLst>
              <a:ext uri="{FF2B5EF4-FFF2-40B4-BE49-F238E27FC236}">
                <a16:creationId xmlns:a16="http://schemas.microsoft.com/office/drawing/2014/main" id="{85F3E506-72E3-F171-D3F0-8FEF201ECA62}"/>
              </a:ext>
            </a:extLst>
          </p:cNvPr>
          <p:cNvPicPr>
            <a:picLocks noChangeAspect="1"/>
          </p:cNvPicPr>
          <p:nvPr/>
        </p:nvPicPr>
        <p:blipFill>
          <a:blip r:embed="rId3"/>
          <a:stretch>
            <a:fillRect/>
          </a:stretch>
        </p:blipFill>
        <p:spPr>
          <a:xfrm>
            <a:off x="6821967" y="1428958"/>
            <a:ext cx="2405592" cy="758687"/>
          </a:xfrm>
          <a:prstGeom prst="rect">
            <a:avLst/>
          </a:prstGeom>
        </p:spPr>
      </p:pic>
      <p:sp>
        <p:nvSpPr>
          <p:cNvPr id="6" name="TextBox 5">
            <a:extLst>
              <a:ext uri="{FF2B5EF4-FFF2-40B4-BE49-F238E27FC236}">
                <a16:creationId xmlns:a16="http://schemas.microsoft.com/office/drawing/2014/main" id="{58E64B53-8C05-0229-0945-C1BA0D0BD7F1}"/>
              </a:ext>
            </a:extLst>
          </p:cNvPr>
          <p:cNvSpPr txBox="1"/>
          <p:nvPr/>
        </p:nvSpPr>
        <p:spPr>
          <a:xfrm>
            <a:off x="3252899" y="954156"/>
            <a:ext cx="1119665" cy="369332"/>
          </a:xfrm>
          <a:prstGeom prst="rect">
            <a:avLst/>
          </a:prstGeom>
          <a:noFill/>
        </p:spPr>
        <p:txBody>
          <a:bodyPr wrap="none" rtlCol="0">
            <a:spAutoFit/>
          </a:bodyPr>
          <a:lstStyle/>
          <a:p>
            <a:r>
              <a:rPr lang="en-US" dirty="0"/>
              <a:t>Year 2024</a:t>
            </a:r>
          </a:p>
        </p:txBody>
      </p:sp>
      <p:sp>
        <p:nvSpPr>
          <p:cNvPr id="7" name="TextBox 6">
            <a:extLst>
              <a:ext uri="{FF2B5EF4-FFF2-40B4-BE49-F238E27FC236}">
                <a16:creationId xmlns:a16="http://schemas.microsoft.com/office/drawing/2014/main" id="{C8FB1023-A0CA-B490-2EAA-4F45E9B51D55}"/>
              </a:ext>
            </a:extLst>
          </p:cNvPr>
          <p:cNvSpPr txBox="1"/>
          <p:nvPr/>
        </p:nvSpPr>
        <p:spPr>
          <a:xfrm>
            <a:off x="7464930" y="954156"/>
            <a:ext cx="1119665" cy="369332"/>
          </a:xfrm>
          <a:prstGeom prst="rect">
            <a:avLst/>
          </a:prstGeom>
          <a:noFill/>
        </p:spPr>
        <p:txBody>
          <a:bodyPr wrap="none" rtlCol="0">
            <a:spAutoFit/>
          </a:bodyPr>
          <a:lstStyle/>
          <a:p>
            <a:r>
              <a:rPr lang="en-US" dirty="0"/>
              <a:t>Year 2025</a:t>
            </a:r>
          </a:p>
        </p:txBody>
      </p:sp>
      <p:pic>
        <p:nvPicPr>
          <p:cNvPr id="9" name="Picture 8">
            <a:extLst>
              <a:ext uri="{FF2B5EF4-FFF2-40B4-BE49-F238E27FC236}">
                <a16:creationId xmlns:a16="http://schemas.microsoft.com/office/drawing/2014/main" id="{35C5320E-9162-603C-CA13-32DFC2B9FB86}"/>
              </a:ext>
            </a:extLst>
          </p:cNvPr>
          <p:cNvPicPr>
            <a:picLocks noChangeAspect="1"/>
          </p:cNvPicPr>
          <p:nvPr/>
        </p:nvPicPr>
        <p:blipFill>
          <a:blip r:embed="rId4"/>
          <a:stretch>
            <a:fillRect/>
          </a:stretch>
        </p:blipFill>
        <p:spPr>
          <a:xfrm>
            <a:off x="2597742" y="2293114"/>
            <a:ext cx="2429978" cy="4105384"/>
          </a:xfrm>
          <a:prstGeom prst="rect">
            <a:avLst/>
          </a:prstGeom>
        </p:spPr>
      </p:pic>
      <p:pic>
        <p:nvPicPr>
          <p:cNvPr id="11" name="Picture 10">
            <a:extLst>
              <a:ext uri="{FF2B5EF4-FFF2-40B4-BE49-F238E27FC236}">
                <a16:creationId xmlns:a16="http://schemas.microsoft.com/office/drawing/2014/main" id="{039B8B69-0F4B-BD86-B919-84343AA76B85}"/>
              </a:ext>
            </a:extLst>
          </p:cNvPr>
          <p:cNvPicPr>
            <a:picLocks noChangeAspect="1"/>
          </p:cNvPicPr>
          <p:nvPr/>
        </p:nvPicPr>
        <p:blipFill>
          <a:blip r:embed="rId5"/>
          <a:stretch>
            <a:fillRect/>
          </a:stretch>
        </p:blipFill>
        <p:spPr>
          <a:xfrm>
            <a:off x="6797582" y="2293114"/>
            <a:ext cx="2405592" cy="4105384"/>
          </a:xfrm>
          <a:prstGeom prst="rect">
            <a:avLst/>
          </a:prstGeom>
        </p:spPr>
      </p:pic>
    </p:spTree>
    <p:extLst>
      <p:ext uri="{BB962C8B-B14F-4D97-AF65-F5344CB8AC3E}">
        <p14:creationId xmlns:p14="http://schemas.microsoft.com/office/powerpoint/2010/main" val="2478184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8" name="Picture 7" descr="A green line graph with numbers&#10;&#10;AI-generated content may be incorrect.">
            <a:extLst>
              <a:ext uri="{FF2B5EF4-FFF2-40B4-BE49-F238E27FC236}">
                <a16:creationId xmlns:a16="http://schemas.microsoft.com/office/drawing/2014/main" id="{75D23E6E-4130-9613-DF0E-7E95A0D3D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716" y="1964241"/>
            <a:ext cx="5159675" cy="2192861"/>
          </a:xfrm>
          <a:prstGeom prst="rect">
            <a:avLst/>
          </a:prstGeom>
          <a:effectLst>
            <a:outerShdw blurRad="50800" dist="38100" dir="2700000" algn="tl" rotWithShape="0">
              <a:prstClr val="black">
                <a:alpha val="40000"/>
              </a:prstClr>
            </a:outerShdw>
          </a:effectLst>
        </p:spPr>
      </p:pic>
      <p:pic>
        <p:nvPicPr>
          <p:cNvPr id="6" name="Picture 5" descr="A graph with blue lines&#10;&#10;AI-generated content may be incorrect.">
            <a:extLst>
              <a:ext uri="{FF2B5EF4-FFF2-40B4-BE49-F238E27FC236}">
                <a16:creationId xmlns:a16="http://schemas.microsoft.com/office/drawing/2014/main" id="{1646A667-0CA9-972A-679D-EFD564A368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8857" y="1964241"/>
            <a:ext cx="5159676" cy="219286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67853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E54A49-B29F-75D7-1DF7-F7D025A813CF}"/>
              </a:ext>
            </a:extLst>
          </p:cNvPr>
          <p:cNvSpPr txBox="1"/>
          <p:nvPr/>
        </p:nvSpPr>
        <p:spPr>
          <a:xfrm>
            <a:off x="554016" y="1838251"/>
            <a:ext cx="3565525" cy="1908549"/>
          </a:xfrm>
          <a:prstGeom prst="rect">
            <a:avLst/>
          </a:prstGeom>
        </p:spPr>
        <p:txBody>
          <a:bodyPr vert="horz" wrap="square" lIns="0" tIns="0" rIns="0" bIns="0" rtlCol="0" anchor="t" anchorCtr="0">
            <a:noAutofit/>
          </a:bodyPr>
          <a:lstStyle/>
          <a:p>
            <a:pPr>
              <a:lnSpc>
                <a:spcPct val="110000"/>
              </a:lnSpc>
              <a:spcBef>
                <a:spcPct val="0"/>
              </a:spcBef>
              <a:spcAft>
                <a:spcPts val="800"/>
              </a:spcAft>
            </a:pPr>
            <a:r>
              <a:rPr lang="en-US" sz="2000" b="1" dirty="0">
                <a:solidFill>
                  <a:schemeClr val="tx1">
                    <a:alpha val="60000"/>
                  </a:schemeClr>
                </a:solidFill>
                <a:effectLst/>
              </a:rPr>
              <a:t>Problem 4: </a:t>
            </a:r>
            <a:r>
              <a:rPr lang="en-US" sz="2000" dirty="0">
                <a:solidFill>
                  <a:schemeClr val="tx1">
                    <a:alpha val="60000"/>
                  </a:schemeClr>
                </a:solidFill>
                <a:effectLst/>
              </a:rPr>
              <a:t>What are the average trip speeds, and how do they reflect traffic or operational efficiency differences between the two periods?</a:t>
            </a:r>
          </a:p>
          <a:p>
            <a:pPr indent="-228600">
              <a:lnSpc>
                <a:spcPct val="110000"/>
              </a:lnSpc>
              <a:spcBef>
                <a:spcPct val="0"/>
              </a:spcBef>
              <a:spcAft>
                <a:spcPts val="800"/>
              </a:spcAft>
              <a:buFont typeface="Arial" panose="020B0604020202020204" pitchFamily="34" charset="0"/>
              <a:buChar char="•"/>
            </a:pPr>
            <a:endParaRPr lang="en-US" sz="2000" dirty="0">
              <a:solidFill>
                <a:schemeClr val="tx1">
                  <a:alpha val="60000"/>
                </a:schemeClr>
              </a:solidFill>
            </a:endParaRPr>
          </a:p>
        </p:txBody>
      </p:sp>
      <p:pic>
        <p:nvPicPr>
          <p:cNvPr id="4" name="Picture 3">
            <a:extLst>
              <a:ext uri="{FF2B5EF4-FFF2-40B4-BE49-F238E27FC236}">
                <a16:creationId xmlns:a16="http://schemas.microsoft.com/office/drawing/2014/main" id="{87093A6B-C7E2-9491-7DDE-4C1C086D581B}"/>
              </a:ext>
            </a:extLst>
          </p:cNvPr>
          <p:cNvPicPr>
            <a:picLocks noChangeAspect="1"/>
          </p:cNvPicPr>
          <p:nvPr/>
        </p:nvPicPr>
        <p:blipFill>
          <a:blip r:embed="rId2"/>
          <a:stretch>
            <a:fillRect/>
          </a:stretch>
        </p:blipFill>
        <p:spPr>
          <a:xfrm>
            <a:off x="4425484" y="1342672"/>
            <a:ext cx="7407419" cy="4388722"/>
          </a:xfrm>
          <a:prstGeom prst="rect">
            <a:avLst/>
          </a:prstGeom>
        </p:spPr>
      </p:pic>
    </p:spTree>
    <p:extLst>
      <p:ext uri="{BB962C8B-B14F-4D97-AF65-F5344CB8AC3E}">
        <p14:creationId xmlns:p14="http://schemas.microsoft.com/office/powerpoint/2010/main" val="1169472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329A2D-8E7D-E178-D0CF-9E88E0E90268}"/>
              </a:ext>
            </a:extLst>
          </p:cNvPr>
          <p:cNvPicPr>
            <a:picLocks noChangeAspect="1"/>
          </p:cNvPicPr>
          <p:nvPr/>
        </p:nvPicPr>
        <p:blipFill>
          <a:blip r:embed="rId2"/>
          <a:stretch>
            <a:fillRect/>
          </a:stretch>
        </p:blipFill>
        <p:spPr>
          <a:xfrm>
            <a:off x="1889782" y="1522496"/>
            <a:ext cx="2593508" cy="4585428"/>
          </a:xfrm>
          <a:prstGeom prst="rect">
            <a:avLst/>
          </a:prstGeom>
        </p:spPr>
      </p:pic>
      <p:sp>
        <p:nvSpPr>
          <p:cNvPr id="4" name="TextBox 3">
            <a:extLst>
              <a:ext uri="{FF2B5EF4-FFF2-40B4-BE49-F238E27FC236}">
                <a16:creationId xmlns:a16="http://schemas.microsoft.com/office/drawing/2014/main" id="{DAB0572D-14DD-4F1D-051E-895F066E278E}"/>
              </a:ext>
            </a:extLst>
          </p:cNvPr>
          <p:cNvSpPr txBox="1"/>
          <p:nvPr/>
        </p:nvSpPr>
        <p:spPr>
          <a:xfrm>
            <a:off x="2626703" y="893928"/>
            <a:ext cx="1119665" cy="369332"/>
          </a:xfrm>
          <a:prstGeom prst="rect">
            <a:avLst/>
          </a:prstGeom>
          <a:noFill/>
        </p:spPr>
        <p:txBody>
          <a:bodyPr wrap="none" rtlCol="0">
            <a:spAutoFit/>
          </a:bodyPr>
          <a:lstStyle/>
          <a:p>
            <a:r>
              <a:rPr lang="en-US" dirty="0"/>
              <a:t>Year 2024</a:t>
            </a:r>
          </a:p>
        </p:txBody>
      </p:sp>
      <p:sp>
        <p:nvSpPr>
          <p:cNvPr id="6" name="TextBox 5">
            <a:extLst>
              <a:ext uri="{FF2B5EF4-FFF2-40B4-BE49-F238E27FC236}">
                <a16:creationId xmlns:a16="http://schemas.microsoft.com/office/drawing/2014/main" id="{8624C479-FEC4-5B70-6A1B-259ABFED1392}"/>
              </a:ext>
            </a:extLst>
          </p:cNvPr>
          <p:cNvSpPr txBox="1"/>
          <p:nvPr/>
        </p:nvSpPr>
        <p:spPr>
          <a:xfrm>
            <a:off x="8275484" y="893928"/>
            <a:ext cx="1289813" cy="369332"/>
          </a:xfrm>
          <a:prstGeom prst="rect">
            <a:avLst/>
          </a:prstGeom>
          <a:noFill/>
        </p:spPr>
        <p:txBody>
          <a:bodyPr wrap="square">
            <a:spAutoFit/>
          </a:bodyPr>
          <a:lstStyle/>
          <a:p>
            <a:r>
              <a:rPr lang="en-US" dirty="0"/>
              <a:t>Year 2025</a:t>
            </a:r>
          </a:p>
        </p:txBody>
      </p:sp>
      <p:pic>
        <p:nvPicPr>
          <p:cNvPr id="8" name="Picture 7">
            <a:extLst>
              <a:ext uri="{FF2B5EF4-FFF2-40B4-BE49-F238E27FC236}">
                <a16:creationId xmlns:a16="http://schemas.microsoft.com/office/drawing/2014/main" id="{9C3EEA04-06D9-3ED4-D348-D27A32D1DE94}"/>
              </a:ext>
            </a:extLst>
          </p:cNvPr>
          <p:cNvPicPr>
            <a:picLocks noChangeAspect="1"/>
          </p:cNvPicPr>
          <p:nvPr/>
        </p:nvPicPr>
        <p:blipFill>
          <a:blip r:embed="rId3"/>
          <a:stretch>
            <a:fillRect/>
          </a:stretch>
        </p:blipFill>
        <p:spPr>
          <a:xfrm>
            <a:off x="7708712" y="1452617"/>
            <a:ext cx="2536725" cy="4655307"/>
          </a:xfrm>
          <a:prstGeom prst="rect">
            <a:avLst/>
          </a:prstGeom>
        </p:spPr>
      </p:pic>
    </p:spTree>
    <p:extLst>
      <p:ext uri="{BB962C8B-B14F-4D97-AF65-F5344CB8AC3E}">
        <p14:creationId xmlns:p14="http://schemas.microsoft.com/office/powerpoint/2010/main" val="3365263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604F1D-1F88-3E8A-6213-3423F40B8C8D}"/>
              </a:ext>
            </a:extLst>
          </p:cNvPr>
          <p:cNvPicPr>
            <a:picLocks noChangeAspect="1"/>
          </p:cNvPicPr>
          <p:nvPr/>
        </p:nvPicPr>
        <p:blipFill>
          <a:blip r:embed="rId2"/>
          <a:stretch>
            <a:fillRect/>
          </a:stretch>
        </p:blipFill>
        <p:spPr>
          <a:xfrm>
            <a:off x="935276" y="1318782"/>
            <a:ext cx="6076994" cy="1190634"/>
          </a:xfrm>
          <a:prstGeom prst="rect">
            <a:avLst/>
          </a:prstGeom>
        </p:spPr>
      </p:pic>
      <p:sp>
        <p:nvSpPr>
          <p:cNvPr id="4" name="TextBox 3">
            <a:extLst>
              <a:ext uri="{FF2B5EF4-FFF2-40B4-BE49-F238E27FC236}">
                <a16:creationId xmlns:a16="http://schemas.microsoft.com/office/drawing/2014/main" id="{67367A02-97CA-4350-D2EF-CD2657DB2DA7}"/>
              </a:ext>
            </a:extLst>
          </p:cNvPr>
          <p:cNvSpPr txBox="1"/>
          <p:nvPr/>
        </p:nvSpPr>
        <p:spPr>
          <a:xfrm>
            <a:off x="2939772" y="825690"/>
            <a:ext cx="1034001" cy="369332"/>
          </a:xfrm>
          <a:prstGeom prst="rect">
            <a:avLst/>
          </a:prstGeom>
          <a:noFill/>
        </p:spPr>
        <p:txBody>
          <a:bodyPr wrap="none" rtlCol="0">
            <a:spAutoFit/>
          </a:bodyPr>
          <a:lstStyle/>
          <a:p>
            <a:r>
              <a:rPr lang="en-US" dirty="0"/>
              <a:t>For 2024</a:t>
            </a:r>
          </a:p>
        </p:txBody>
      </p:sp>
      <p:sp>
        <p:nvSpPr>
          <p:cNvPr id="5" name="TextBox 4">
            <a:extLst>
              <a:ext uri="{FF2B5EF4-FFF2-40B4-BE49-F238E27FC236}">
                <a16:creationId xmlns:a16="http://schemas.microsoft.com/office/drawing/2014/main" id="{D9643CDF-D94A-E43B-2E71-FCC3C06C8A6D}"/>
              </a:ext>
            </a:extLst>
          </p:cNvPr>
          <p:cNvSpPr txBox="1"/>
          <p:nvPr/>
        </p:nvSpPr>
        <p:spPr>
          <a:xfrm>
            <a:off x="2939771" y="3318681"/>
            <a:ext cx="1034001" cy="369332"/>
          </a:xfrm>
          <a:prstGeom prst="rect">
            <a:avLst/>
          </a:prstGeom>
          <a:noFill/>
        </p:spPr>
        <p:txBody>
          <a:bodyPr wrap="none" rtlCol="0">
            <a:spAutoFit/>
          </a:bodyPr>
          <a:lstStyle/>
          <a:p>
            <a:r>
              <a:rPr lang="en-US" dirty="0"/>
              <a:t>For 2025</a:t>
            </a:r>
          </a:p>
        </p:txBody>
      </p:sp>
      <p:pic>
        <p:nvPicPr>
          <p:cNvPr id="7" name="Picture 6">
            <a:extLst>
              <a:ext uri="{FF2B5EF4-FFF2-40B4-BE49-F238E27FC236}">
                <a16:creationId xmlns:a16="http://schemas.microsoft.com/office/drawing/2014/main" id="{C1FDB776-2A17-C8A1-3A88-B82332DDE6B8}"/>
              </a:ext>
            </a:extLst>
          </p:cNvPr>
          <p:cNvPicPr>
            <a:picLocks noChangeAspect="1"/>
          </p:cNvPicPr>
          <p:nvPr/>
        </p:nvPicPr>
        <p:blipFill>
          <a:blip r:embed="rId3"/>
          <a:stretch>
            <a:fillRect/>
          </a:stretch>
        </p:blipFill>
        <p:spPr>
          <a:xfrm>
            <a:off x="7668754" y="1553142"/>
            <a:ext cx="3339760" cy="726034"/>
          </a:xfrm>
          <a:prstGeom prst="rect">
            <a:avLst/>
          </a:prstGeom>
        </p:spPr>
      </p:pic>
      <p:pic>
        <p:nvPicPr>
          <p:cNvPr id="9" name="Picture 8">
            <a:extLst>
              <a:ext uri="{FF2B5EF4-FFF2-40B4-BE49-F238E27FC236}">
                <a16:creationId xmlns:a16="http://schemas.microsoft.com/office/drawing/2014/main" id="{A8965A35-E6A4-093D-5714-6F4E84799C4A}"/>
              </a:ext>
            </a:extLst>
          </p:cNvPr>
          <p:cNvPicPr>
            <a:picLocks noChangeAspect="1"/>
          </p:cNvPicPr>
          <p:nvPr/>
        </p:nvPicPr>
        <p:blipFill>
          <a:blip r:embed="rId4"/>
          <a:stretch>
            <a:fillRect/>
          </a:stretch>
        </p:blipFill>
        <p:spPr>
          <a:xfrm>
            <a:off x="880696" y="4039946"/>
            <a:ext cx="6186152" cy="1330448"/>
          </a:xfrm>
          <a:prstGeom prst="rect">
            <a:avLst/>
          </a:prstGeom>
        </p:spPr>
      </p:pic>
      <p:pic>
        <p:nvPicPr>
          <p:cNvPr id="11" name="Picture 10">
            <a:extLst>
              <a:ext uri="{FF2B5EF4-FFF2-40B4-BE49-F238E27FC236}">
                <a16:creationId xmlns:a16="http://schemas.microsoft.com/office/drawing/2014/main" id="{AB499C06-0AF6-8D61-C7FE-BCB501CBE384}"/>
              </a:ext>
            </a:extLst>
          </p:cNvPr>
          <p:cNvPicPr>
            <a:picLocks noChangeAspect="1"/>
          </p:cNvPicPr>
          <p:nvPr/>
        </p:nvPicPr>
        <p:blipFill>
          <a:blip r:embed="rId5"/>
          <a:stretch>
            <a:fillRect/>
          </a:stretch>
        </p:blipFill>
        <p:spPr>
          <a:xfrm>
            <a:off x="7733961" y="4292540"/>
            <a:ext cx="3209345" cy="825260"/>
          </a:xfrm>
          <a:prstGeom prst="rect">
            <a:avLst/>
          </a:prstGeom>
        </p:spPr>
      </p:pic>
    </p:spTree>
    <p:extLst>
      <p:ext uri="{BB962C8B-B14F-4D97-AF65-F5344CB8AC3E}">
        <p14:creationId xmlns:p14="http://schemas.microsoft.com/office/powerpoint/2010/main" val="930289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8" name="Picture 7" descr="A green line graph with numbers&#10;&#10;AI-generated content may be incorrect.">
            <a:extLst>
              <a:ext uri="{FF2B5EF4-FFF2-40B4-BE49-F238E27FC236}">
                <a16:creationId xmlns:a16="http://schemas.microsoft.com/office/drawing/2014/main" id="{93CB8600-3F18-0F1C-6350-7047C7BCD5A4}"/>
              </a:ext>
            </a:extLst>
          </p:cNvPr>
          <p:cNvPicPr>
            <a:picLocks noChangeAspect="1"/>
          </p:cNvPicPr>
          <p:nvPr/>
        </p:nvPicPr>
        <p:blipFill>
          <a:blip r:embed="rId2">
            <a:extLst>
              <a:ext uri="{28A0092B-C50C-407E-A947-70E740481C1C}">
                <a14:useLocalDpi xmlns:a14="http://schemas.microsoft.com/office/drawing/2010/main" val="0"/>
              </a:ext>
            </a:extLst>
          </a:blip>
          <a:srcRect r="2" b="4410"/>
          <a:stretch/>
        </p:blipFill>
        <p:spPr>
          <a:xfrm>
            <a:off x="585716" y="2012573"/>
            <a:ext cx="5159675" cy="2096198"/>
          </a:xfrm>
          <a:prstGeom prst="rect">
            <a:avLst/>
          </a:prstGeom>
          <a:effectLst>
            <a:outerShdw blurRad="50800" dist="38100" dir="2700000" algn="tl" rotWithShape="0">
              <a:prstClr val="black">
                <a:alpha val="40000"/>
              </a:prstClr>
            </a:outerShdw>
          </a:effectLst>
        </p:spPr>
      </p:pic>
      <p:pic>
        <p:nvPicPr>
          <p:cNvPr id="6" name="Picture 5" descr="A graph with blue lines&#10;&#10;AI-generated content may be incorrect.">
            <a:extLst>
              <a:ext uri="{FF2B5EF4-FFF2-40B4-BE49-F238E27FC236}">
                <a16:creationId xmlns:a16="http://schemas.microsoft.com/office/drawing/2014/main" id="{B1DA8640-16D5-C84F-989B-5D50D34B57DA}"/>
              </a:ext>
            </a:extLst>
          </p:cNvPr>
          <p:cNvPicPr>
            <a:picLocks noChangeAspect="1"/>
          </p:cNvPicPr>
          <p:nvPr/>
        </p:nvPicPr>
        <p:blipFill>
          <a:blip r:embed="rId3">
            <a:extLst>
              <a:ext uri="{28A0092B-C50C-407E-A947-70E740481C1C}">
                <a14:useLocalDpi xmlns:a14="http://schemas.microsoft.com/office/drawing/2010/main" val="0"/>
              </a:ext>
            </a:extLst>
          </a:blip>
          <a:srcRect r="2" b="4410"/>
          <a:stretch/>
        </p:blipFill>
        <p:spPr>
          <a:xfrm>
            <a:off x="6388857" y="2012572"/>
            <a:ext cx="5159676" cy="209619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08400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9" name="Picture 8">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1" name="Straight Connector 10">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BBC7667-C352-4842-9AFD-E5C16AD002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5" name="Rectangle 14">
            <a:extLst>
              <a:ext uri="{FF2B5EF4-FFF2-40B4-BE49-F238E27FC236}">
                <a16:creationId xmlns:a16="http://schemas.microsoft.com/office/drawing/2014/main" id="{F8454B2E-D2DB-42C2-A224-BCEC47B86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8B61146-1CF0-40E1-B66E-C22BD9207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extBox 1">
            <a:extLst>
              <a:ext uri="{FF2B5EF4-FFF2-40B4-BE49-F238E27FC236}">
                <a16:creationId xmlns:a16="http://schemas.microsoft.com/office/drawing/2014/main" id="{DF722635-FAD4-39D3-DB02-75B0253787B0}"/>
              </a:ext>
            </a:extLst>
          </p:cNvPr>
          <p:cNvSpPr txBox="1"/>
          <p:nvPr/>
        </p:nvSpPr>
        <p:spPr>
          <a:xfrm>
            <a:off x="1964987" y="802298"/>
            <a:ext cx="9089865" cy="3822329"/>
          </a:xfrm>
          <a:prstGeom prst="rect">
            <a:avLst/>
          </a:prstGeom>
        </p:spPr>
        <p:txBody>
          <a:bodyPr vert="horz" lIns="91440" tIns="45720" rIns="91440" bIns="0" rtlCol="0" anchor="b" anchorCtr="0">
            <a:normAutofit/>
          </a:bodyPr>
          <a:lstStyle/>
          <a:p>
            <a:pPr defTabSz="914400">
              <a:lnSpc>
                <a:spcPct val="90000"/>
              </a:lnSpc>
              <a:spcBef>
                <a:spcPct val="0"/>
              </a:spcBef>
              <a:spcAft>
                <a:spcPts val="600"/>
              </a:spcAft>
            </a:pPr>
            <a:r>
              <a:rPr lang="en-US" sz="6600" cap="all">
                <a:latin typeface="+mj-lt"/>
                <a:ea typeface="+mj-ea"/>
                <a:cs typeface="+mj-cs"/>
              </a:rPr>
              <a:t>Thank you</a:t>
            </a:r>
          </a:p>
        </p:txBody>
      </p:sp>
      <p:cxnSp>
        <p:nvCxnSpPr>
          <p:cNvPr id="19" name="Straight Connector 18">
            <a:extLst>
              <a:ext uri="{FF2B5EF4-FFF2-40B4-BE49-F238E27FC236}">
                <a16:creationId xmlns:a16="http://schemas.microsoft.com/office/drawing/2014/main" id="{7AE5065C-30A9-480A-9E93-74CC149029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76728" y="4735528"/>
            <a:ext cx="8643010"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21" name="Picture 20">
            <a:extLst>
              <a:ext uri="{FF2B5EF4-FFF2-40B4-BE49-F238E27FC236}">
                <a16:creationId xmlns:a16="http://schemas.microsoft.com/office/drawing/2014/main" id="{2F948680-1810-4961-805C-D0C28E7E93E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146596052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147</TotalTime>
  <Words>654</Words>
  <Application>Microsoft Office PowerPoint</Application>
  <PresentationFormat>Widescreen</PresentationFormat>
  <Paragraphs>75</Paragraphs>
  <Slides>18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Courier New</vt:lpstr>
      <vt:lpstr>Gill Sans MT</vt:lpstr>
      <vt:lpstr>Helvetica Neue</vt:lpstr>
      <vt:lpstr>Gallery</vt:lpstr>
      <vt:lpstr>NYC Taxi Data Analysis: Comparing January 2024 &amp; January 2025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  Adari</dc:creator>
  <cp:lastModifiedBy>Karthik  Adari</cp:lastModifiedBy>
  <cp:revision>5</cp:revision>
  <dcterms:created xsi:type="dcterms:W3CDTF">2025-03-24T21:51:21Z</dcterms:created>
  <dcterms:modified xsi:type="dcterms:W3CDTF">2025-03-25T01:46:05Z</dcterms:modified>
</cp:coreProperties>
</file>